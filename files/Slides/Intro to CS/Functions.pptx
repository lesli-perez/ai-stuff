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35" r:id="rId5"/>
    <p:sldId id="336" r:id="rId6"/>
    <p:sldId id="346" r:id="rId7"/>
    <p:sldId id="347" r:id="rId8"/>
    <p:sldId id="345" r:id="rId9"/>
    <p:sldId id="352" r:id="rId10"/>
    <p:sldId id="353" r:id="rId11"/>
    <p:sldId id="354" r:id="rId12"/>
    <p:sldId id="349" r:id="rId13"/>
    <p:sldId id="348" r:id="rId14"/>
    <p:sldId id="350" r:id="rId15"/>
    <p:sldId id="35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7" autoAdjust="0"/>
    <p:restoredTop sz="95394" autoAdjust="0"/>
  </p:normalViewPr>
  <p:slideViewPr>
    <p:cSldViewPr snapToGrid="0">
      <p:cViewPr varScale="1">
        <p:scale>
          <a:sx n="103" d="100"/>
          <a:sy n="103" d="100"/>
        </p:scale>
        <p:origin x="138" y="118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5/7/2026</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071616" y="960120"/>
            <a:ext cx="5221224" cy="3056343"/>
          </a:xfrm>
        </p:spPr>
        <p:txBody>
          <a:bodyPr/>
          <a:lstStyle/>
          <a:p>
            <a:r>
              <a:rPr lang="en-US" dirty="0"/>
              <a:t>Functions</a:t>
            </a:r>
          </a:p>
        </p:txBody>
      </p:sp>
      <p:sp>
        <p:nvSpPr>
          <p:cNvPr id="2" name="TextBox 1">
            <a:extLst>
              <a:ext uri="{FF2B5EF4-FFF2-40B4-BE49-F238E27FC236}">
                <a16:creationId xmlns:a16="http://schemas.microsoft.com/office/drawing/2014/main" id="{8161D8C1-C08F-2D58-F717-E1C4A0492912}"/>
              </a:ext>
            </a:extLst>
          </p:cNvPr>
          <p:cNvSpPr txBox="1"/>
          <p:nvPr/>
        </p:nvSpPr>
        <p:spPr>
          <a:xfrm>
            <a:off x="6232849" y="4338735"/>
            <a:ext cx="3900196" cy="646331"/>
          </a:xfrm>
          <a:prstGeom prst="rect">
            <a:avLst/>
          </a:prstGeom>
          <a:noFill/>
        </p:spPr>
        <p:txBody>
          <a:bodyPr wrap="square" rtlCol="0">
            <a:spAutoFit/>
          </a:bodyPr>
          <a:lstStyle/>
          <a:p>
            <a:r>
              <a:rPr lang="en-US" dirty="0"/>
              <a:t>CSCI 1380 Introduction to Programming in Python</a:t>
            </a: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t>Functions</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65631" y="2072640"/>
            <a:ext cx="8324089" cy="3493008"/>
          </a:xfrm>
        </p:spPr>
        <p:txBody>
          <a:bodyPr/>
          <a:lstStyle/>
          <a:p>
            <a:pPr>
              <a:buFontTx/>
              <a:buChar char="•"/>
            </a:pPr>
            <a:r>
              <a:rPr lang="en-US" altLang="en-US" b="1" u="sng" dirty="0"/>
              <a:t>Function</a:t>
            </a:r>
            <a:r>
              <a:rPr lang="en-US" altLang="en-US" dirty="0"/>
              <a:t>: group of statements within  a program that perform as specific task</a:t>
            </a:r>
          </a:p>
          <a:p>
            <a:pPr lvl="1">
              <a:buFont typeface="Courier New" panose="02070309020205020404" pitchFamily="49" charset="0"/>
              <a:buChar char="o"/>
            </a:pPr>
            <a:r>
              <a:rPr lang="en-US" altLang="en-US" dirty="0"/>
              <a:t>Usually one task of a large program</a:t>
            </a:r>
          </a:p>
          <a:p>
            <a:pPr lvl="2">
              <a:buFont typeface="Wingdings" panose="05000000000000000000" pitchFamily="2" charset="2"/>
              <a:buChar char="§"/>
            </a:pPr>
            <a:r>
              <a:rPr lang="en-US" altLang="en-US" dirty="0"/>
              <a:t>Functions can be executed in order to perform overall program task</a:t>
            </a:r>
          </a:p>
          <a:p>
            <a:pPr lvl="1">
              <a:buFont typeface="Courier New" panose="02070309020205020404" pitchFamily="49" charset="0"/>
              <a:buChar char="o"/>
            </a:pPr>
            <a:r>
              <a:rPr lang="en-US" altLang="en-US" dirty="0"/>
              <a:t>Known as </a:t>
            </a:r>
            <a:r>
              <a:rPr lang="en-US" altLang="en-US" i="1" dirty="0"/>
              <a:t>divide and conquer</a:t>
            </a:r>
            <a:r>
              <a:rPr lang="en-US" altLang="en-US" dirty="0"/>
              <a:t> approach</a:t>
            </a:r>
          </a:p>
          <a:p>
            <a:pPr>
              <a:buFontTx/>
              <a:buChar char="•"/>
            </a:pPr>
            <a:r>
              <a:rPr lang="en-US" altLang="en-US" u="sng" dirty="0"/>
              <a:t>Modularized program</a:t>
            </a:r>
            <a:r>
              <a:rPr lang="en-US" altLang="en-US" dirty="0"/>
              <a:t>: program wherein each task within the program is in its own function</a:t>
            </a:r>
            <a:endParaRPr lang="en-AU" dirty="0"/>
          </a:p>
          <a:p>
            <a:endParaRPr lang="en-US" dirty="0"/>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A0D80-A6EF-B327-D309-6898CB9594E7}"/>
              </a:ext>
            </a:extLst>
          </p:cNvPr>
          <p:cNvSpPr>
            <a:spLocks noGrp="1"/>
          </p:cNvSpPr>
          <p:nvPr>
            <p:ph type="title"/>
          </p:nvPr>
        </p:nvSpPr>
        <p:spPr/>
        <p:txBody>
          <a:bodyPr/>
          <a:lstStyle/>
          <a:p>
            <a:r>
              <a:rPr lang="en-US" dirty="0"/>
              <a:t>Divide &amp; conquer</a:t>
            </a:r>
          </a:p>
        </p:txBody>
      </p:sp>
      <p:sp>
        <p:nvSpPr>
          <p:cNvPr id="4" name="Slide Number Placeholder 3">
            <a:extLst>
              <a:ext uri="{FF2B5EF4-FFF2-40B4-BE49-F238E27FC236}">
                <a16:creationId xmlns:a16="http://schemas.microsoft.com/office/drawing/2014/main" id="{712C10B8-9D24-FF31-42FC-C0558E9CAE52}"/>
              </a:ext>
            </a:extLst>
          </p:cNvPr>
          <p:cNvSpPr>
            <a:spLocks noGrp="1"/>
          </p:cNvSpPr>
          <p:nvPr>
            <p:ph type="sldNum" sz="quarter" idx="12"/>
          </p:nvPr>
        </p:nvSpPr>
        <p:spPr/>
        <p:txBody>
          <a:bodyPr/>
          <a:lstStyle/>
          <a:p>
            <a:fld id="{B5CEABB6-07DC-46E8-9B57-56EC44A396E5}" type="slidenum">
              <a:rPr lang="en-US" smtClean="0"/>
              <a:pPr/>
              <a:t>3</a:t>
            </a:fld>
            <a:endParaRPr lang="en-US" dirty="0"/>
          </a:p>
        </p:txBody>
      </p:sp>
      <p:pic>
        <p:nvPicPr>
          <p:cNvPr id="5" name="Picture 1" descr="A program is one long, complex sequence of statements. There are 24 statements. In this program the task has been divided into smaller tasks, each of which is performed by a separate function.">
            <a:extLst>
              <a:ext uri="{FF2B5EF4-FFF2-40B4-BE49-F238E27FC236}">
                <a16:creationId xmlns:a16="http://schemas.microsoft.com/office/drawing/2014/main" id="{B9571CD3-86B7-C449-9DD2-97AE9D309E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766188" y="1435828"/>
            <a:ext cx="6551132" cy="5349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2128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2AA09-D453-F60F-3DC0-CD24737A386E}"/>
              </a:ext>
            </a:extLst>
          </p:cNvPr>
          <p:cNvSpPr>
            <a:spLocks noGrp="1"/>
          </p:cNvSpPr>
          <p:nvPr>
            <p:ph type="title"/>
          </p:nvPr>
        </p:nvSpPr>
        <p:spPr/>
        <p:txBody>
          <a:bodyPr/>
          <a:lstStyle/>
          <a:p>
            <a:r>
              <a:rPr lang="en-US" dirty="0"/>
              <a:t>Benefits of using functions</a:t>
            </a:r>
          </a:p>
        </p:txBody>
      </p:sp>
      <p:sp>
        <p:nvSpPr>
          <p:cNvPr id="3" name="Text Placeholder 2">
            <a:extLst>
              <a:ext uri="{FF2B5EF4-FFF2-40B4-BE49-F238E27FC236}">
                <a16:creationId xmlns:a16="http://schemas.microsoft.com/office/drawing/2014/main" id="{7784C47A-72F6-4D8E-8C10-D8845AFA5FB7}"/>
              </a:ext>
            </a:extLst>
          </p:cNvPr>
          <p:cNvSpPr>
            <a:spLocks noGrp="1"/>
          </p:cNvSpPr>
          <p:nvPr>
            <p:ph type="body" sz="quarter" idx="13"/>
          </p:nvPr>
        </p:nvSpPr>
        <p:spPr/>
        <p:txBody>
          <a:bodyPr>
            <a:normAutofit fontScale="92500"/>
          </a:bodyPr>
          <a:lstStyle/>
          <a:p>
            <a:r>
              <a:rPr lang="en-US" dirty="0"/>
              <a:t>The benefits of using functions include:</a:t>
            </a:r>
          </a:p>
          <a:p>
            <a:pPr lvl="1">
              <a:buFont typeface="Courier New" panose="02070309020205020404" pitchFamily="49" charset="0"/>
              <a:buChar char="o"/>
            </a:pPr>
            <a:r>
              <a:rPr lang="en-US" dirty="0"/>
              <a:t>Simpler code</a:t>
            </a:r>
          </a:p>
          <a:p>
            <a:pPr lvl="1">
              <a:buFont typeface="Courier New" panose="02070309020205020404" pitchFamily="49" charset="0"/>
              <a:buChar char="o"/>
            </a:pPr>
            <a:r>
              <a:rPr lang="en-US" dirty="0"/>
              <a:t>Code reuse</a:t>
            </a:r>
          </a:p>
          <a:p>
            <a:pPr lvl="2">
              <a:buFont typeface="Wingdings" panose="05000000000000000000" pitchFamily="2" charset="2"/>
              <a:buChar char="§"/>
            </a:pPr>
            <a:r>
              <a:rPr lang="en-US" dirty="0"/>
              <a:t>Write the code once and call it multiple times</a:t>
            </a:r>
          </a:p>
          <a:p>
            <a:pPr lvl="1">
              <a:buFont typeface="Courier New" panose="02070309020205020404" pitchFamily="49" charset="0"/>
              <a:buChar char="o"/>
            </a:pPr>
            <a:r>
              <a:rPr lang="en-US" dirty="0"/>
              <a:t>Better testing &amp; debugging</a:t>
            </a:r>
          </a:p>
          <a:p>
            <a:pPr lvl="2">
              <a:buFont typeface="Wingdings" panose="05000000000000000000" pitchFamily="2" charset="2"/>
              <a:buChar char="§"/>
            </a:pPr>
            <a:r>
              <a:rPr lang="en-US" dirty="0"/>
              <a:t>Can test and debug each function (find out what’s wrong)</a:t>
            </a:r>
          </a:p>
          <a:p>
            <a:pPr lvl="1">
              <a:buFont typeface="Courier New" panose="02070309020205020404" pitchFamily="49" charset="0"/>
              <a:buChar char="o"/>
            </a:pPr>
            <a:r>
              <a:rPr lang="en-US" dirty="0"/>
              <a:t>Faster development</a:t>
            </a:r>
          </a:p>
          <a:p>
            <a:pPr lvl="1">
              <a:buFont typeface="Courier New" panose="02070309020205020404" pitchFamily="49" charset="0"/>
              <a:buChar char="o"/>
            </a:pPr>
            <a:r>
              <a:rPr lang="en-US" dirty="0"/>
              <a:t>Easier facilitation of teamwork</a:t>
            </a:r>
          </a:p>
          <a:p>
            <a:pPr lvl="2">
              <a:buFont typeface="Wingdings" panose="05000000000000000000" pitchFamily="2" charset="2"/>
              <a:buChar char="§"/>
            </a:pPr>
            <a:r>
              <a:rPr lang="en-US" dirty="0"/>
              <a:t>Different team members can write different functions.</a:t>
            </a:r>
          </a:p>
        </p:txBody>
      </p:sp>
      <p:sp>
        <p:nvSpPr>
          <p:cNvPr id="4" name="Slide Number Placeholder 3">
            <a:extLst>
              <a:ext uri="{FF2B5EF4-FFF2-40B4-BE49-F238E27FC236}">
                <a16:creationId xmlns:a16="http://schemas.microsoft.com/office/drawing/2014/main" id="{75B21385-D470-9D14-8EA4-014F773817A0}"/>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4119981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86A1-11A8-21B1-B6A0-AA1A1DAA5A9A}"/>
              </a:ext>
            </a:extLst>
          </p:cNvPr>
          <p:cNvSpPr>
            <a:spLocks noGrp="1"/>
          </p:cNvSpPr>
          <p:nvPr>
            <p:ph type="title"/>
          </p:nvPr>
        </p:nvSpPr>
        <p:spPr>
          <a:xfrm>
            <a:off x="893064" y="72518"/>
            <a:ext cx="10405174" cy="1326514"/>
          </a:xfrm>
        </p:spPr>
        <p:txBody>
          <a:bodyPr/>
          <a:lstStyle/>
          <a:p>
            <a:r>
              <a:rPr lang="en-US" dirty="0"/>
              <a:t>Defining a function</a:t>
            </a:r>
            <a:endParaRPr lang="en-ZA" dirty="0"/>
          </a:p>
        </p:txBody>
      </p:sp>
      <p:sp>
        <p:nvSpPr>
          <p:cNvPr id="5" name="Content Placeholder 4">
            <a:extLst>
              <a:ext uri="{FF2B5EF4-FFF2-40B4-BE49-F238E27FC236}">
                <a16:creationId xmlns:a16="http://schemas.microsoft.com/office/drawing/2014/main" id="{2726E51D-0E5E-98CC-19AE-F6AC7B00BF2E}"/>
              </a:ext>
            </a:extLst>
          </p:cNvPr>
          <p:cNvSpPr>
            <a:spLocks noGrp="1"/>
          </p:cNvSpPr>
          <p:nvPr>
            <p:ph sz="quarter" idx="14"/>
          </p:nvPr>
        </p:nvSpPr>
        <p:spPr>
          <a:xfrm>
            <a:off x="911352" y="2058669"/>
            <a:ext cx="6192838" cy="3687763"/>
          </a:xfrm>
        </p:spPr>
        <p:txBody>
          <a:bodyPr>
            <a:normAutofit/>
          </a:bodyPr>
          <a:lstStyle/>
          <a:p>
            <a:pPr eaLnBrk="1" hangingPunct="1">
              <a:defRPr/>
            </a:pPr>
            <a:r>
              <a:rPr lang="en-US" altLang="en-US" dirty="0"/>
              <a:t>Function name should be descriptive of the task carried out by the function.</a:t>
            </a:r>
          </a:p>
          <a:p>
            <a:pPr lvl="1">
              <a:defRPr/>
            </a:pPr>
            <a:r>
              <a:rPr lang="en-US" altLang="en-US" dirty="0"/>
              <a:t>Often includes a verb</a:t>
            </a:r>
          </a:p>
          <a:p>
            <a:pPr>
              <a:defRPr/>
            </a:pPr>
            <a:r>
              <a:rPr lang="en-US" altLang="en-US" u="sng" dirty="0"/>
              <a:t>Function definition</a:t>
            </a:r>
            <a:r>
              <a:rPr lang="en-US" altLang="en-US" dirty="0"/>
              <a:t>: specifies what function does</a:t>
            </a:r>
          </a:p>
          <a:p>
            <a:pPr>
              <a:defRPr/>
            </a:pPr>
            <a:endParaRPr lang="en-US" altLang="en-US" dirty="0"/>
          </a:p>
          <a:p>
            <a:pPr>
              <a:defRPr/>
            </a:pPr>
            <a:r>
              <a:rPr lang="en-US" altLang="en-US" b="1" u="sng" dirty="0"/>
              <a:t>Function header</a:t>
            </a:r>
            <a:r>
              <a:rPr lang="en-US" altLang="en-US" b="1" dirty="0"/>
              <a:t>: </a:t>
            </a:r>
            <a:r>
              <a:rPr lang="en-US" altLang="en-US" dirty="0"/>
              <a:t>first line of function</a:t>
            </a:r>
          </a:p>
          <a:p>
            <a:pPr lvl="1">
              <a:defRPr/>
            </a:pPr>
            <a:r>
              <a:rPr lang="en-US" altLang="en-US" dirty="0"/>
              <a:t>Includes keyword def and function name, followed by parenthesis and colon.</a:t>
            </a:r>
          </a:p>
          <a:p>
            <a:pPr>
              <a:defRPr/>
            </a:pPr>
            <a:r>
              <a:rPr lang="en-US" altLang="en-US" b="1" u="sng" dirty="0"/>
              <a:t>Block</a:t>
            </a:r>
            <a:r>
              <a:rPr lang="en-US" altLang="en-US" b="1" dirty="0"/>
              <a:t>: </a:t>
            </a:r>
            <a:r>
              <a:rPr lang="en-US" altLang="en-US" dirty="0"/>
              <a:t>set of statements that belong together as group.</a:t>
            </a:r>
          </a:p>
          <a:p>
            <a:pPr>
              <a:defRPr/>
            </a:pPr>
            <a:endParaRPr lang="en-US" altLang="en-US" dirty="0"/>
          </a:p>
        </p:txBody>
      </p:sp>
      <p:sp>
        <p:nvSpPr>
          <p:cNvPr id="3" name="Slide Number Placeholder 2">
            <a:extLst>
              <a:ext uri="{FF2B5EF4-FFF2-40B4-BE49-F238E27FC236}">
                <a16:creationId xmlns:a16="http://schemas.microsoft.com/office/drawing/2014/main" id="{C5430536-D522-9F5E-B2C4-24F7C757082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5</a:t>
            </a:fld>
            <a:endParaRPr lang="en-US" dirty="0"/>
          </a:p>
        </p:txBody>
      </p:sp>
      <p:sp>
        <p:nvSpPr>
          <p:cNvPr id="7" name="TextBox 6">
            <a:extLst>
              <a:ext uri="{FF2B5EF4-FFF2-40B4-BE49-F238E27FC236}">
                <a16:creationId xmlns:a16="http://schemas.microsoft.com/office/drawing/2014/main" id="{07FCB0B6-5A70-2FC0-2BCD-DAB967510509}"/>
              </a:ext>
            </a:extLst>
          </p:cNvPr>
          <p:cNvSpPr txBox="1"/>
          <p:nvPr/>
        </p:nvSpPr>
        <p:spPr>
          <a:xfrm>
            <a:off x="7262811" y="2589825"/>
            <a:ext cx="4811002" cy="2092881"/>
          </a:xfrm>
          <a:prstGeom prst="rect">
            <a:avLst/>
          </a:prstGeom>
          <a:noFill/>
        </p:spPr>
        <p:txBody>
          <a:bodyPr wrap="square" rtlCol="0">
            <a:spAutoFit/>
          </a:bodyPr>
          <a:lstStyle/>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function_name</a:t>
            </a:r>
            <a:r>
              <a:rPr lang="en-US" altLang="en-US" sz="2800" b="1" dirty="0">
                <a:latin typeface="Courier New" pitchFamily="49" charset="0"/>
                <a:cs typeface="Courier New" pitchFamily="49" charset="0"/>
              </a:rPr>
              <a:t>():</a:t>
            </a:r>
          </a:p>
          <a:p>
            <a:pPr lvl="1">
              <a:defRPr/>
            </a:pPr>
            <a:r>
              <a:rPr lang="en-US" altLang="en-US" sz="2800" b="1" dirty="0">
                <a:latin typeface="Courier New" pitchFamily="49" charset="0"/>
                <a:cs typeface="Courier New" pitchFamily="49" charset="0"/>
              </a:rPr>
              <a:t>	statement</a:t>
            </a:r>
          </a:p>
          <a:p>
            <a:pPr lvl="1">
              <a:defRPr/>
            </a:pPr>
            <a:r>
              <a:rPr lang="en-US" altLang="en-US" sz="2800" b="1" dirty="0">
                <a:latin typeface="Courier New" pitchFamily="49" charset="0"/>
                <a:cs typeface="Courier New" pitchFamily="49" charset="0"/>
              </a:rPr>
              <a:t>	statement</a:t>
            </a:r>
          </a:p>
          <a:p>
            <a:pPr lvl="1">
              <a:defRPr/>
            </a:pPr>
            <a:r>
              <a:rPr lang="en-US" altLang="en-US" sz="2800" b="1" dirty="0">
                <a:latin typeface="Courier New" pitchFamily="49" charset="0"/>
                <a:cs typeface="Courier New" pitchFamily="49" charset="0"/>
              </a:rPr>
              <a:t>	...</a:t>
            </a:r>
            <a:endParaRPr lang="en-US" altLang="en-US" sz="2800" b="1" dirty="0"/>
          </a:p>
          <a:p>
            <a:endParaRPr lang="en-US" dirty="0"/>
          </a:p>
        </p:txBody>
      </p:sp>
    </p:spTree>
    <p:extLst>
      <p:ext uri="{BB962C8B-B14F-4D97-AF65-F5344CB8AC3E}">
        <p14:creationId xmlns:p14="http://schemas.microsoft.com/office/powerpoint/2010/main" val="1684465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D386-8976-D3DC-C8EE-CF245C6AF9D4}"/>
              </a:ext>
            </a:extLst>
          </p:cNvPr>
          <p:cNvSpPr>
            <a:spLocks noGrp="1"/>
          </p:cNvSpPr>
          <p:nvPr>
            <p:ph type="title"/>
          </p:nvPr>
        </p:nvSpPr>
        <p:spPr/>
        <p:txBody>
          <a:bodyPr/>
          <a:lstStyle/>
          <a:p>
            <a:r>
              <a:rPr lang="en-US" dirty="0"/>
              <a:t>Calling a function</a:t>
            </a:r>
          </a:p>
        </p:txBody>
      </p:sp>
      <p:sp>
        <p:nvSpPr>
          <p:cNvPr id="3" name="Content Placeholder 2">
            <a:extLst>
              <a:ext uri="{FF2B5EF4-FFF2-40B4-BE49-F238E27FC236}">
                <a16:creationId xmlns:a16="http://schemas.microsoft.com/office/drawing/2014/main" id="{1B8F713E-BD29-8339-4506-F945DBE4AA1C}"/>
              </a:ext>
            </a:extLst>
          </p:cNvPr>
          <p:cNvSpPr>
            <a:spLocks noGrp="1"/>
          </p:cNvSpPr>
          <p:nvPr>
            <p:ph sz="quarter" idx="14"/>
          </p:nvPr>
        </p:nvSpPr>
        <p:spPr/>
        <p:txBody>
          <a:bodyPr/>
          <a:lstStyle/>
          <a:p>
            <a:r>
              <a:rPr lang="en-US" dirty="0"/>
              <a:t>Call a function to execute it.</a:t>
            </a:r>
          </a:p>
          <a:p>
            <a:pPr lvl="1"/>
            <a:r>
              <a:rPr lang="en-US" dirty="0"/>
              <a:t>When a function is called:</a:t>
            </a:r>
          </a:p>
          <a:p>
            <a:pPr lvl="2"/>
            <a:r>
              <a:rPr lang="en-US" dirty="0"/>
              <a:t>Interpreter jumps to the function and executes statements in the block.</a:t>
            </a:r>
          </a:p>
          <a:p>
            <a:pPr lvl="2"/>
            <a:r>
              <a:rPr lang="en-US" dirty="0"/>
              <a:t>Interpreter jumps back to part of program that called the function.</a:t>
            </a:r>
          </a:p>
          <a:p>
            <a:pPr lvl="3"/>
            <a:r>
              <a:rPr lang="en-US" dirty="0"/>
              <a:t>Known as function return</a:t>
            </a:r>
          </a:p>
        </p:txBody>
      </p:sp>
      <p:sp>
        <p:nvSpPr>
          <p:cNvPr id="5" name="Slide Number Placeholder 4">
            <a:extLst>
              <a:ext uri="{FF2B5EF4-FFF2-40B4-BE49-F238E27FC236}">
                <a16:creationId xmlns:a16="http://schemas.microsoft.com/office/drawing/2014/main" id="{1574850F-06F2-441C-261A-881B103B3225}"/>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
        <p:nvSpPr>
          <p:cNvPr id="6" name="TextBox 5">
            <a:extLst>
              <a:ext uri="{FF2B5EF4-FFF2-40B4-BE49-F238E27FC236}">
                <a16:creationId xmlns:a16="http://schemas.microsoft.com/office/drawing/2014/main" id="{D0E71F1B-72DB-9E09-F196-42E400504958}"/>
              </a:ext>
            </a:extLst>
          </p:cNvPr>
          <p:cNvSpPr txBox="1"/>
          <p:nvPr/>
        </p:nvSpPr>
        <p:spPr>
          <a:xfrm>
            <a:off x="7262811" y="2058669"/>
            <a:ext cx="4929189" cy="2954655"/>
          </a:xfrm>
          <a:prstGeom prst="rect">
            <a:avLst/>
          </a:prstGeom>
          <a:noFill/>
        </p:spPr>
        <p:txBody>
          <a:bodyPr wrap="square" rtlCol="0">
            <a:spAutoFit/>
          </a:bodyPr>
          <a:lstStyle/>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function_name</a:t>
            </a:r>
            <a:r>
              <a:rPr lang="en-US" altLang="en-US" sz="2800" b="1" dirty="0">
                <a:latin typeface="Courier New" pitchFamily="49" charset="0"/>
                <a:cs typeface="Courier New" pitchFamily="49" charset="0"/>
              </a:rPr>
              <a:t>():</a:t>
            </a:r>
          </a:p>
          <a:p>
            <a:pPr>
              <a:defRPr/>
            </a:pPr>
            <a:r>
              <a:rPr lang="en-US" altLang="en-US" sz="2800" b="1" dirty="0">
                <a:latin typeface="Courier New" pitchFamily="49" charset="0"/>
                <a:cs typeface="Courier New" pitchFamily="49" charset="0"/>
              </a:rPr>
              <a:t>	statement</a:t>
            </a:r>
          </a:p>
          <a:p>
            <a:pPr>
              <a:defRPr/>
            </a:pPr>
            <a:r>
              <a:rPr lang="en-US" altLang="en-US" sz="2800" b="1" dirty="0">
                <a:latin typeface="Courier New" pitchFamily="49" charset="0"/>
                <a:cs typeface="Courier New" pitchFamily="49" charset="0"/>
              </a:rPr>
              <a:t>	statement</a:t>
            </a:r>
          </a:p>
          <a:p>
            <a:pPr>
              <a:defRPr/>
            </a:pPr>
            <a:r>
              <a:rPr lang="en-US" altLang="en-US" sz="2800" b="1" dirty="0">
                <a:latin typeface="Courier New" pitchFamily="49" charset="0"/>
                <a:cs typeface="Courier New" pitchFamily="49" charset="0"/>
              </a:rPr>
              <a:t>	...</a:t>
            </a:r>
          </a:p>
          <a:p>
            <a:pPr marL="0" lvl="1" defTabSz="0">
              <a:defRPr/>
            </a:pPr>
            <a:r>
              <a:rPr lang="en-US" altLang="en-US" sz="2800" b="1" dirty="0">
                <a:latin typeface="Courier New" pitchFamily="49" charset="0"/>
                <a:cs typeface="Courier New" pitchFamily="49" charset="0"/>
              </a:rPr>
              <a:t>		</a:t>
            </a:r>
          </a:p>
          <a:p>
            <a:pPr marL="0" lvl="1" defTabSz="0">
              <a:defRPr/>
            </a:pPr>
            <a:r>
              <a:rPr lang="en-US" altLang="en-US" sz="2800" b="1" dirty="0" err="1">
                <a:solidFill>
                  <a:srgbClr val="0070C0"/>
                </a:solidFill>
                <a:latin typeface="Courier New" pitchFamily="49" charset="0"/>
                <a:cs typeface="Courier New" pitchFamily="49" charset="0"/>
              </a:rPr>
              <a:t>function_name</a:t>
            </a:r>
            <a:r>
              <a:rPr lang="en-US" altLang="en-US" sz="2800" b="1" dirty="0">
                <a:latin typeface="Courier New" pitchFamily="49" charset="0"/>
                <a:cs typeface="Courier New" pitchFamily="49" charset="0"/>
              </a:rPr>
              <a:t>() </a:t>
            </a:r>
            <a:r>
              <a:rPr lang="en-US" altLang="en-US" sz="2800" b="1" dirty="0">
                <a:solidFill>
                  <a:srgbClr val="00B050"/>
                </a:solidFill>
                <a:latin typeface="Courier New" pitchFamily="49" charset="0"/>
                <a:cs typeface="Courier New" pitchFamily="49" charset="0"/>
              </a:rPr>
              <a:t># call</a:t>
            </a:r>
            <a:endParaRPr lang="en-US" altLang="en-US" sz="2800" b="1" dirty="0">
              <a:solidFill>
                <a:srgbClr val="00B050"/>
              </a:solidFill>
            </a:endParaRPr>
          </a:p>
          <a:p>
            <a:endParaRPr lang="en-US" dirty="0"/>
          </a:p>
        </p:txBody>
      </p:sp>
    </p:spTree>
    <p:extLst>
      <p:ext uri="{BB962C8B-B14F-4D97-AF65-F5344CB8AC3E}">
        <p14:creationId xmlns:p14="http://schemas.microsoft.com/office/powerpoint/2010/main" val="1968730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4A52-37CF-21C7-C8B2-220D2161058E}"/>
              </a:ext>
            </a:extLst>
          </p:cNvPr>
          <p:cNvSpPr>
            <a:spLocks noGrp="1"/>
          </p:cNvSpPr>
          <p:nvPr>
            <p:ph type="title"/>
          </p:nvPr>
        </p:nvSpPr>
        <p:spPr/>
        <p:txBody>
          <a:bodyPr/>
          <a:lstStyle/>
          <a:p>
            <a:r>
              <a:rPr lang="en-US" dirty="0"/>
              <a:t>Local variables</a:t>
            </a:r>
          </a:p>
        </p:txBody>
      </p:sp>
      <p:sp>
        <p:nvSpPr>
          <p:cNvPr id="3" name="Content Placeholder 2">
            <a:extLst>
              <a:ext uri="{FF2B5EF4-FFF2-40B4-BE49-F238E27FC236}">
                <a16:creationId xmlns:a16="http://schemas.microsoft.com/office/drawing/2014/main" id="{780262ED-7B7C-02B6-AC72-04D2D4163CCA}"/>
              </a:ext>
            </a:extLst>
          </p:cNvPr>
          <p:cNvSpPr>
            <a:spLocks noGrp="1"/>
          </p:cNvSpPr>
          <p:nvPr>
            <p:ph sz="quarter" idx="14"/>
          </p:nvPr>
        </p:nvSpPr>
        <p:spPr/>
        <p:txBody>
          <a:bodyPr/>
          <a:lstStyle/>
          <a:p>
            <a:r>
              <a:rPr lang="en-US" altLang="en-US" u="sng" dirty="0"/>
              <a:t>Local variable</a:t>
            </a:r>
            <a:r>
              <a:rPr lang="en-US" altLang="en-US" dirty="0"/>
              <a:t>: variable that is assigned a value inside a function.</a:t>
            </a:r>
          </a:p>
          <a:p>
            <a:pPr lvl="1"/>
            <a:r>
              <a:rPr lang="en-US" altLang="en-US" dirty="0"/>
              <a:t>Belongs to the function in which it was created</a:t>
            </a:r>
          </a:p>
          <a:p>
            <a:pPr lvl="2"/>
            <a:r>
              <a:rPr lang="en-US" altLang="en-US" dirty="0"/>
              <a:t>Only statements inside that function can access it, error will occur if another function tries to access the variable</a:t>
            </a:r>
          </a:p>
          <a:p>
            <a:r>
              <a:rPr lang="en-US" altLang="en-US" u="sng" dirty="0"/>
              <a:t>Scope</a:t>
            </a:r>
            <a:r>
              <a:rPr lang="en-US" altLang="en-US" dirty="0"/>
              <a:t>: the part of a program in which a variable may be accessed.</a:t>
            </a:r>
          </a:p>
          <a:p>
            <a:pPr lvl="1"/>
            <a:r>
              <a:rPr lang="en-US" altLang="en-US" dirty="0"/>
              <a:t>For local variable: function in which created</a:t>
            </a:r>
          </a:p>
          <a:p>
            <a:pPr lvl="1"/>
            <a:endParaRPr lang="en-US" dirty="0"/>
          </a:p>
        </p:txBody>
      </p:sp>
      <p:sp>
        <p:nvSpPr>
          <p:cNvPr id="5" name="Slide Number Placeholder 4">
            <a:extLst>
              <a:ext uri="{FF2B5EF4-FFF2-40B4-BE49-F238E27FC236}">
                <a16:creationId xmlns:a16="http://schemas.microsoft.com/office/drawing/2014/main" id="{BD6103F9-9171-57B9-FBC5-ED7ABB278EE4}"/>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
        <p:nvSpPr>
          <p:cNvPr id="6" name="TextBox 5">
            <a:extLst>
              <a:ext uri="{FF2B5EF4-FFF2-40B4-BE49-F238E27FC236}">
                <a16:creationId xmlns:a16="http://schemas.microsoft.com/office/drawing/2014/main" id="{C5B6D7D5-91CB-218B-ECF3-ABF3027098A7}"/>
              </a:ext>
            </a:extLst>
          </p:cNvPr>
          <p:cNvSpPr txBox="1"/>
          <p:nvPr/>
        </p:nvSpPr>
        <p:spPr>
          <a:xfrm>
            <a:off x="7262811" y="2058669"/>
            <a:ext cx="4929189" cy="3385542"/>
          </a:xfrm>
          <a:prstGeom prst="rect">
            <a:avLst/>
          </a:prstGeom>
          <a:noFill/>
        </p:spPr>
        <p:txBody>
          <a:bodyPr wrap="square" rtlCol="0">
            <a:spAutoFit/>
          </a:bodyPr>
          <a:lstStyle/>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function_A</a:t>
            </a:r>
            <a:r>
              <a:rPr lang="en-US" altLang="en-US" sz="2800" b="1" dirty="0">
                <a:latin typeface="Courier New" pitchFamily="49" charset="0"/>
                <a:cs typeface="Courier New" pitchFamily="49" charset="0"/>
              </a:rPr>
              <a:t>():</a:t>
            </a:r>
          </a:p>
          <a:p>
            <a:pPr lvl="1">
              <a:defRPr/>
            </a:pPr>
            <a:r>
              <a:rPr lang="en-US" altLang="en-US" sz="2800" b="1" dirty="0">
                <a:latin typeface="Courier New" pitchFamily="49" charset="0"/>
                <a:cs typeface="Courier New" pitchFamily="49" charset="0"/>
              </a:rPr>
              <a:t>	x = </a:t>
            </a:r>
            <a:r>
              <a:rPr lang="en-US" altLang="en-US" sz="2800" b="1" dirty="0">
                <a:solidFill>
                  <a:schemeClr val="bg2">
                    <a:lumMod val="50000"/>
                  </a:schemeClr>
                </a:solidFill>
                <a:latin typeface="Courier New" pitchFamily="49" charset="0"/>
                <a:cs typeface="Courier New" pitchFamily="49" charset="0"/>
              </a:rPr>
              <a:t>10</a:t>
            </a:r>
          </a:p>
          <a:p>
            <a:pPr marL="0" lvl="1" defTabSz="0">
              <a:defRPr/>
            </a:pPr>
            <a:r>
              <a:rPr lang="en-US" altLang="en-US" sz="2800" b="1" dirty="0">
                <a:latin typeface="Courier New" pitchFamily="49" charset="0"/>
                <a:cs typeface="Courier New" pitchFamily="49" charset="0"/>
              </a:rPr>
              <a:t>		</a:t>
            </a:r>
          </a:p>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function_B</a:t>
            </a:r>
            <a:r>
              <a:rPr lang="en-US" altLang="en-US" sz="2800" b="1" dirty="0">
                <a:latin typeface="Courier New" pitchFamily="49" charset="0"/>
                <a:cs typeface="Courier New" pitchFamily="49" charset="0"/>
              </a:rPr>
              <a:t>():</a:t>
            </a:r>
          </a:p>
          <a:p>
            <a:pPr lvl="1">
              <a:defRPr/>
            </a:pPr>
            <a:r>
              <a:rPr lang="en-US" altLang="en-US" sz="2800" b="1" dirty="0">
                <a:latin typeface="Courier New" pitchFamily="49" charset="0"/>
                <a:cs typeface="Courier New" pitchFamily="49" charset="0"/>
              </a:rPr>
              <a:t>	</a:t>
            </a:r>
            <a:r>
              <a:rPr lang="en-US" altLang="en-US" sz="2800" b="1" dirty="0">
                <a:solidFill>
                  <a:schemeClr val="accent4">
                    <a:lumMod val="75000"/>
                  </a:schemeClr>
                </a:solidFill>
                <a:latin typeface="Courier New" pitchFamily="49" charset="0"/>
                <a:cs typeface="Courier New" pitchFamily="49" charset="0"/>
              </a:rPr>
              <a:t>print</a:t>
            </a:r>
            <a:r>
              <a:rPr lang="en-US" altLang="en-US" sz="2800" b="1" dirty="0">
                <a:latin typeface="Courier New" pitchFamily="49" charset="0"/>
                <a:cs typeface="Courier New" pitchFamily="49" charset="0"/>
              </a:rPr>
              <a:t>( x )</a:t>
            </a:r>
            <a:r>
              <a:rPr lang="en-US" altLang="en-US" sz="2800" b="1" dirty="0">
                <a:solidFill>
                  <a:srgbClr val="00B050"/>
                </a:solidFill>
                <a:latin typeface="Courier New" pitchFamily="49" charset="0"/>
                <a:cs typeface="Courier New" pitchFamily="49" charset="0"/>
              </a:rPr>
              <a:t># ERROR!</a:t>
            </a:r>
          </a:p>
          <a:p>
            <a:pPr lvl="1" defTabSz="0">
              <a:defRPr/>
            </a:pPr>
            <a:endParaRPr lang="en-US" altLang="en-US" sz="2800" b="1" dirty="0">
              <a:solidFill>
                <a:srgbClr val="00B050"/>
              </a:solidFill>
              <a:latin typeface="Courier New" pitchFamily="49" charset="0"/>
              <a:cs typeface="Courier New" pitchFamily="49" charset="0"/>
            </a:endParaRPr>
          </a:p>
          <a:p>
            <a:pPr defTabSz="0">
              <a:defRPr/>
            </a:pPr>
            <a:r>
              <a:rPr lang="en-US" altLang="en-US" sz="2800" b="1" dirty="0">
                <a:solidFill>
                  <a:schemeClr val="accent4">
                    <a:lumMod val="75000"/>
                  </a:schemeClr>
                </a:solidFill>
                <a:latin typeface="Courier New" pitchFamily="49" charset="0"/>
                <a:cs typeface="Courier New" pitchFamily="49" charset="0"/>
              </a:rPr>
              <a:t>print</a:t>
            </a:r>
            <a:r>
              <a:rPr lang="en-US" altLang="en-US" sz="2800" b="1" dirty="0">
                <a:latin typeface="Courier New" pitchFamily="49" charset="0"/>
                <a:cs typeface="Courier New" pitchFamily="49" charset="0"/>
              </a:rPr>
              <a:t>( x )</a:t>
            </a:r>
            <a:r>
              <a:rPr lang="en-US" altLang="en-US" sz="2800" b="1" dirty="0">
                <a:solidFill>
                  <a:srgbClr val="00B050"/>
                </a:solidFill>
                <a:latin typeface="Courier New" pitchFamily="49" charset="0"/>
                <a:cs typeface="Courier New" pitchFamily="49" charset="0"/>
              </a:rPr>
              <a:t># ERROR!</a:t>
            </a:r>
          </a:p>
          <a:p>
            <a:endParaRPr lang="en-US" dirty="0"/>
          </a:p>
        </p:txBody>
      </p:sp>
    </p:spTree>
    <p:extLst>
      <p:ext uri="{BB962C8B-B14F-4D97-AF65-F5344CB8AC3E}">
        <p14:creationId xmlns:p14="http://schemas.microsoft.com/office/powerpoint/2010/main" val="2072052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1B7-C416-922C-7FC9-9F25688A0D51}"/>
              </a:ext>
            </a:extLst>
          </p:cNvPr>
          <p:cNvSpPr>
            <a:spLocks noGrp="1"/>
          </p:cNvSpPr>
          <p:nvPr>
            <p:ph type="title"/>
          </p:nvPr>
        </p:nvSpPr>
        <p:spPr/>
        <p:txBody>
          <a:bodyPr/>
          <a:lstStyle/>
          <a:p>
            <a:r>
              <a:rPr lang="en-US" dirty="0"/>
              <a:t>Void function &amp; </a:t>
            </a:r>
            <a:br>
              <a:rPr lang="en-US" dirty="0"/>
            </a:br>
            <a:r>
              <a:rPr lang="en-US" dirty="0"/>
              <a:t>value-Returning functions</a:t>
            </a:r>
          </a:p>
        </p:txBody>
      </p:sp>
      <p:sp>
        <p:nvSpPr>
          <p:cNvPr id="3" name="Content Placeholder 2">
            <a:extLst>
              <a:ext uri="{FF2B5EF4-FFF2-40B4-BE49-F238E27FC236}">
                <a16:creationId xmlns:a16="http://schemas.microsoft.com/office/drawing/2014/main" id="{A353C55A-62F8-BEB8-56B1-95C165051EC9}"/>
              </a:ext>
            </a:extLst>
          </p:cNvPr>
          <p:cNvSpPr>
            <a:spLocks noGrp="1"/>
          </p:cNvSpPr>
          <p:nvPr>
            <p:ph sz="quarter" idx="14"/>
          </p:nvPr>
        </p:nvSpPr>
        <p:spPr/>
        <p:txBody>
          <a:bodyPr/>
          <a:lstStyle/>
          <a:p>
            <a:r>
              <a:rPr lang="en-US" altLang="en-US" dirty="0"/>
              <a:t>A </a:t>
            </a:r>
            <a:r>
              <a:rPr lang="en-US" altLang="en-US" b="1" u="sng" dirty="0"/>
              <a:t>void function</a:t>
            </a:r>
            <a:r>
              <a:rPr lang="en-US" altLang="en-US" dirty="0"/>
              <a:t>:</a:t>
            </a:r>
          </a:p>
          <a:p>
            <a:pPr lvl="1"/>
            <a:r>
              <a:rPr lang="en-US" altLang="en-US" dirty="0"/>
              <a:t>Simply executes the statements it contains and then terminates.</a:t>
            </a:r>
          </a:p>
          <a:p>
            <a:r>
              <a:rPr lang="en-US" altLang="en-US" dirty="0"/>
              <a:t>A </a:t>
            </a:r>
            <a:r>
              <a:rPr lang="en-US" altLang="en-US" b="1" u="sng" dirty="0"/>
              <a:t>value-returning function</a:t>
            </a:r>
            <a:r>
              <a:rPr lang="en-US" altLang="en-US" dirty="0"/>
              <a:t>:</a:t>
            </a:r>
          </a:p>
          <a:p>
            <a:pPr lvl="1"/>
            <a:r>
              <a:rPr lang="en-US" altLang="en-US" dirty="0"/>
              <a:t>Executes the statements it contains, and then it returns a value back to the statement that called it.</a:t>
            </a:r>
          </a:p>
          <a:p>
            <a:pPr lvl="2"/>
            <a:r>
              <a:rPr lang="en-US" altLang="en-US" dirty="0"/>
              <a:t>The </a:t>
            </a:r>
            <a:r>
              <a:rPr lang="en-US" altLang="en-US" dirty="0">
                <a:latin typeface="Courier New" panose="02070309020205020404" pitchFamily="49" charset="0"/>
                <a:cs typeface="Courier New" panose="02070309020205020404" pitchFamily="49" charset="0"/>
              </a:rPr>
              <a:t>input</a:t>
            </a:r>
            <a:r>
              <a:rPr lang="en-US" altLang="en-US" dirty="0"/>
              <a:t>, </a:t>
            </a:r>
            <a:r>
              <a:rPr lang="en-US" altLang="en-US" dirty="0">
                <a:latin typeface="Courier New" panose="02070309020205020404" pitchFamily="49" charset="0"/>
                <a:cs typeface="Courier New" panose="02070309020205020404" pitchFamily="49" charset="0"/>
              </a:rPr>
              <a:t>int</a:t>
            </a:r>
            <a:r>
              <a:rPr lang="en-US" altLang="en-US" dirty="0"/>
              <a:t>, and </a:t>
            </a:r>
            <a:r>
              <a:rPr lang="en-US" altLang="en-US" dirty="0">
                <a:latin typeface="Courier New" panose="02070309020205020404" pitchFamily="49" charset="0"/>
                <a:cs typeface="Courier New" panose="02070309020205020404" pitchFamily="49" charset="0"/>
              </a:rPr>
              <a:t>float</a:t>
            </a:r>
            <a:r>
              <a:rPr lang="en-US" altLang="en-US" dirty="0"/>
              <a:t> functions are examples of value-returning functions.</a:t>
            </a:r>
            <a:endParaRPr lang="en-AU" dirty="0"/>
          </a:p>
          <a:p>
            <a:pPr lvl="2"/>
            <a:endParaRPr lang="en-US" dirty="0"/>
          </a:p>
        </p:txBody>
      </p:sp>
      <p:sp>
        <p:nvSpPr>
          <p:cNvPr id="5" name="Slide Number Placeholder 4">
            <a:extLst>
              <a:ext uri="{FF2B5EF4-FFF2-40B4-BE49-F238E27FC236}">
                <a16:creationId xmlns:a16="http://schemas.microsoft.com/office/drawing/2014/main" id="{51B28B6C-37A8-442F-6E61-B434A9DEC3E7}"/>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6" name="TextBox 5">
            <a:extLst>
              <a:ext uri="{FF2B5EF4-FFF2-40B4-BE49-F238E27FC236}">
                <a16:creationId xmlns:a16="http://schemas.microsoft.com/office/drawing/2014/main" id="{1EFFC07B-E2D6-CF54-ECB4-76A35B86A49F}"/>
              </a:ext>
            </a:extLst>
          </p:cNvPr>
          <p:cNvSpPr txBox="1"/>
          <p:nvPr/>
        </p:nvSpPr>
        <p:spPr>
          <a:xfrm>
            <a:off x="7262811" y="2403902"/>
            <a:ext cx="4929189" cy="2677656"/>
          </a:xfrm>
          <a:prstGeom prst="rect">
            <a:avLst/>
          </a:prstGeom>
          <a:noFill/>
        </p:spPr>
        <p:txBody>
          <a:bodyPr wrap="square" rtlCol="0">
            <a:spAutoFit/>
          </a:bodyPr>
          <a:lstStyle/>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func_void</a:t>
            </a:r>
            <a:r>
              <a:rPr lang="en-US" altLang="en-US" sz="2800" b="1" dirty="0">
                <a:latin typeface="Courier New" pitchFamily="49" charset="0"/>
                <a:cs typeface="Courier New" pitchFamily="49" charset="0"/>
              </a:rPr>
              <a:t>():</a:t>
            </a:r>
          </a:p>
          <a:p>
            <a:pPr lvl="1">
              <a:defRPr/>
            </a:pPr>
            <a:r>
              <a:rPr lang="en-US" altLang="en-US" sz="2800" b="1" dirty="0">
                <a:latin typeface="Courier New" pitchFamily="49" charset="0"/>
                <a:cs typeface="Courier New" pitchFamily="49" charset="0"/>
              </a:rPr>
              <a:t>	</a:t>
            </a:r>
            <a:r>
              <a:rPr lang="en-US" altLang="en-US" sz="2800" b="1" dirty="0">
                <a:solidFill>
                  <a:schemeClr val="accent4">
                    <a:lumMod val="75000"/>
                  </a:schemeClr>
                </a:solidFill>
                <a:latin typeface="Courier New" pitchFamily="49" charset="0"/>
                <a:cs typeface="Courier New" pitchFamily="49" charset="0"/>
              </a:rPr>
              <a:t>print</a:t>
            </a:r>
            <a:r>
              <a:rPr lang="en-US" altLang="en-US" sz="2800" b="1" dirty="0">
                <a:latin typeface="Courier New" pitchFamily="49" charset="0"/>
                <a:cs typeface="Courier New" pitchFamily="49" charset="0"/>
              </a:rPr>
              <a:t>( </a:t>
            </a:r>
            <a:r>
              <a:rPr lang="en-US" altLang="en-US" sz="2800" b="1" dirty="0">
                <a:solidFill>
                  <a:schemeClr val="accent1">
                    <a:lumMod val="75000"/>
                  </a:schemeClr>
                </a:solidFill>
                <a:latin typeface="Courier New" pitchFamily="49" charset="0"/>
                <a:cs typeface="Courier New" pitchFamily="49" charset="0"/>
              </a:rPr>
              <a:t>“Hello!” </a:t>
            </a:r>
            <a:r>
              <a:rPr lang="en-US" altLang="en-US" sz="2800" b="1" dirty="0">
                <a:latin typeface="Courier New" pitchFamily="49" charset="0"/>
                <a:cs typeface="Courier New" pitchFamily="49" charset="0"/>
              </a:rPr>
              <a:t>)</a:t>
            </a:r>
            <a:endParaRPr lang="en-US" altLang="en-US" sz="2800" b="1" dirty="0">
              <a:solidFill>
                <a:schemeClr val="bg2">
                  <a:lumMod val="50000"/>
                </a:schemeClr>
              </a:solidFill>
              <a:latin typeface="Courier New" pitchFamily="49" charset="0"/>
              <a:cs typeface="Courier New" pitchFamily="49" charset="0"/>
            </a:endParaRPr>
          </a:p>
          <a:p>
            <a:pPr marL="0" lvl="1" defTabSz="0">
              <a:defRPr/>
            </a:pPr>
            <a:r>
              <a:rPr lang="en-US" altLang="en-US" sz="2800" b="1" dirty="0">
                <a:latin typeface="Courier New" pitchFamily="49" charset="0"/>
                <a:cs typeface="Courier New" pitchFamily="49" charset="0"/>
              </a:rPr>
              <a:t>		</a:t>
            </a:r>
          </a:p>
          <a:p>
            <a:pPr>
              <a:defRPr/>
            </a:pPr>
            <a:r>
              <a:rPr lang="en-US" altLang="en-US" sz="2800" b="1" dirty="0">
                <a:solidFill>
                  <a:schemeClr val="accent4">
                    <a:lumMod val="75000"/>
                  </a:schemeClr>
                </a:solidFill>
                <a:latin typeface="Courier New" pitchFamily="49" charset="0"/>
                <a:cs typeface="Courier New" pitchFamily="49" charset="0"/>
              </a:rPr>
              <a:t>def</a:t>
            </a:r>
            <a:r>
              <a:rPr lang="en-US" altLang="en-US" sz="2800" b="1" dirty="0">
                <a:latin typeface="Courier New" pitchFamily="49" charset="0"/>
                <a:cs typeface="Courier New" pitchFamily="49" charset="0"/>
              </a:rPr>
              <a:t> </a:t>
            </a:r>
            <a:r>
              <a:rPr lang="en-US" altLang="en-US" sz="2800" b="1" i="1" dirty="0" err="1">
                <a:solidFill>
                  <a:srgbClr val="0070C0"/>
                </a:solidFill>
                <a:latin typeface="Courier New" pitchFamily="49" charset="0"/>
                <a:cs typeface="Courier New" pitchFamily="49" charset="0"/>
              </a:rPr>
              <a:t>func_return</a:t>
            </a:r>
            <a:r>
              <a:rPr lang="en-US" altLang="en-US" sz="2800" b="1" dirty="0">
                <a:latin typeface="Courier New" pitchFamily="49" charset="0"/>
                <a:cs typeface="Courier New" pitchFamily="49" charset="0"/>
              </a:rPr>
              <a:t>():</a:t>
            </a:r>
          </a:p>
          <a:p>
            <a:pPr lvl="1">
              <a:defRPr/>
            </a:pPr>
            <a:r>
              <a:rPr lang="en-US" altLang="en-US" sz="2800" b="1" dirty="0">
                <a:latin typeface="Courier New" pitchFamily="49" charset="0"/>
                <a:cs typeface="Courier New" pitchFamily="49" charset="0"/>
              </a:rPr>
              <a:t>	</a:t>
            </a:r>
            <a:r>
              <a:rPr lang="en-US" altLang="en-US" sz="2800" b="1" dirty="0">
                <a:solidFill>
                  <a:srgbClr val="7030A0"/>
                </a:solidFill>
                <a:latin typeface="Courier New" pitchFamily="49" charset="0"/>
                <a:cs typeface="Courier New" pitchFamily="49" charset="0"/>
              </a:rPr>
              <a:t>return</a:t>
            </a:r>
            <a:r>
              <a:rPr lang="en-US" altLang="en-US" sz="2800" b="1" dirty="0">
                <a:latin typeface="Courier New" pitchFamily="49" charset="0"/>
                <a:cs typeface="Courier New" pitchFamily="49" charset="0"/>
              </a:rPr>
              <a:t> </a:t>
            </a:r>
            <a:r>
              <a:rPr lang="en-US" altLang="en-US" sz="2800" b="1" dirty="0">
                <a:solidFill>
                  <a:schemeClr val="bg2">
                    <a:lumMod val="50000"/>
                  </a:schemeClr>
                </a:solidFill>
                <a:latin typeface="Courier New" pitchFamily="49" charset="0"/>
                <a:cs typeface="Courier New" pitchFamily="49" charset="0"/>
              </a:rPr>
              <a:t>10</a:t>
            </a:r>
          </a:p>
          <a:p>
            <a:pPr lvl="1">
              <a:defRPr/>
            </a:pPr>
            <a:endParaRPr lang="en-US" altLang="en-US" sz="2800" b="1" dirty="0">
              <a:solidFill>
                <a:srgbClr val="00B050"/>
              </a:solidFill>
              <a:latin typeface="Courier New" pitchFamily="49" charset="0"/>
              <a:cs typeface="Courier New" pitchFamily="49" charset="0"/>
            </a:endParaRPr>
          </a:p>
        </p:txBody>
      </p:sp>
    </p:spTree>
    <p:extLst>
      <p:ext uri="{BB962C8B-B14F-4D97-AF65-F5344CB8AC3E}">
        <p14:creationId xmlns:p14="http://schemas.microsoft.com/office/powerpoint/2010/main" val="2953643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5A8C-3EFB-5A89-4B27-037C5BFE0B0E}"/>
              </a:ext>
            </a:extLst>
          </p:cNvPr>
          <p:cNvSpPr>
            <a:spLocks noGrp="1"/>
          </p:cNvSpPr>
          <p:nvPr>
            <p:ph type="title"/>
          </p:nvPr>
        </p:nvSpPr>
        <p:spPr/>
        <p:txBody>
          <a:bodyPr/>
          <a:lstStyle/>
          <a:p>
            <a:r>
              <a:rPr lang="en-US" dirty="0"/>
              <a:t>Function parameters &amp; arguments</a:t>
            </a:r>
          </a:p>
        </p:txBody>
      </p:sp>
      <p:sp>
        <p:nvSpPr>
          <p:cNvPr id="3" name="Text Placeholder 2">
            <a:extLst>
              <a:ext uri="{FF2B5EF4-FFF2-40B4-BE49-F238E27FC236}">
                <a16:creationId xmlns:a16="http://schemas.microsoft.com/office/drawing/2014/main" id="{B4C65576-E37B-686F-F165-1043674D3109}"/>
              </a:ext>
            </a:extLst>
          </p:cNvPr>
          <p:cNvSpPr>
            <a:spLocks noGrp="1"/>
          </p:cNvSpPr>
          <p:nvPr>
            <p:ph type="body" sz="quarter" idx="13"/>
          </p:nvPr>
        </p:nvSpPr>
        <p:spPr/>
        <p:txBody>
          <a:bodyPr/>
          <a:lstStyle/>
          <a:p>
            <a:r>
              <a:rPr lang="en-US" altLang="en-US" u="sng" dirty="0"/>
              <a:t>Parameter variable</a:t>
            </a:r>
            <a:r>
              <a:rPr lang="en-US" altLang="en-US" dirty="0"/>
              <a:t>: variable that is assigned the value of an argument when the function is called</a:t>
            </a:r>
          </a:p>
          <a:p>
            <a:pPr lvl="1">
              <a:buFont typeface="Courier New" panose="02070309020205020404" pitchFamily="49" charset="0"/>
              <a:buChar char="o"/>
            </a:pPr>
            <a:r>
              <a:rPr lang="en-US" altLang="en-US" dirty="0"/>
              <a:t>The parameter and the argument reference the same value</a:t>
            </a:r>
          </a:p>
          <a:p>
            <a:pPr lvl="1">
              <a:buFont typeface="Courier New" panose="02070309020205020404" pitchFamily="49" charset="0"/>
              <a:buChar char="o"/>
            </a:pPr>
            <a:r>
              <a:rPr lang="en-US" altLang="en-US" dirty="0"/>
              <a:t>General format: </a:t>
            </a:r>
          </a:p>
          <a:p>
            <a:pPr lvl="2">
              <a:buFont typeface="Wingdings" panose="05000000000000000000" pitchFamily="2" charset="2"/>
              <a:buChar char="§"/>
            </a:pPr>
            <a:r>
              <a:rPr lang="en-US" altLang="en-US" b="1" dirty="0">
                <a:solidFill>
                  <a:schemeClr val="accent4">
                    <a:lumMod val="75000"/>
                  </a:schemeClr>
                </a:solidFill>
                <a:latin typeface="Courier New" panose="02070309020205020404" pitchFamily="49" charset="0"/>
                <a:cs typeface="Courier New" panose="02070309020205020404" pitchFamily="49" charset="0"/>
              </a:rPr>
              <a:t>def</a:t>
            </a:r>
            <a:r>
              <a:rPr lang="en-US" altLang="en-US" b="1" dirty="0">
                <a:latin typeface="Courier New" panose="02070309020205020404" pitchFamily="49" charset="0"/>
                <a:cs typeface="Courier New" panose="02070309020205020404" pitchFamily="49" charset="0"/>
              </a:rPr>
              <a:t> </a:t>
            </a:r>
            <a:r>
              <a:rPr lang="en-US" altLang="en-US" b="1" i="1" dirty="0" err="1">
                <a:solidFill>
                  <a:srgbClr val="0070C0"/>
                </a:solidFill>
                <a:latin typeface="Courier New" panose="02070309020205020404" pitchFamily="49" charset="0"/>
                <a:cs typeface="Courier New" panose="02070309020205020404" pitchFamily="49" charset="0"/>
              </a:rPr>
              <a:t>function</a:t>
            </a:r>
            <a:r>
              <a:rPr lang="en-US" altLang="en-US" b="1" dirty="0" err="1">
                <a:solidFill>
                  <a:srgbClr val="0070C0"/>
                </a:solidFill>
                <a:latin typeface="Courier New" panose="02070309020205020404" pitchFamily="49" charset="0"/>
                <a:cs typeface="Courier New" panose="02070309020205020404" pitchFamily="49" charset="0"/>
              </a:rPr>
              <a:t>_</a:t>
            </a:r>
            <a:r>
              <a:rPr lang="en-US" altLang="en-US" b="1" i="1" dirty="0" err="1">
                <a:solidFill>
                  <a:srgbClr val="0070C0"/>
                </a:solidFill>
                <a:latin typeface="Courier New" panose="02070309020205020404" pitchFamily="49" charset="0"/>
                <a:cs typeface="Courier New" panose="02070309020205020404" pitchFamily="49" charset="0"/>
              </a:rPr>
              <a:t>name</a:t>
            </a:r>
            <a:r>
              <a:rPr lang="en-US" altLang="en-US" b="1" dirty="0">
                <a:latin typeface="Courier New" panose="02070309020205020404" pitchFamily="49" charset="0"/>
                <a:cs typeface="Courier New" panose="02070309020205020404" pitchFamily="49" charset="0"/>
              </a:rPr>
              <a:t>( </a:t>
            </a:r>
            <a:r>
              <a:rPr lang="en-US" altLang="en-US" b="1" i="1" dirty="0">
                <a:latin typeface="Courier New" panose="02070309020205020404" pitchFamily="49" charset="0"/>
                <a:cs typeface="Courier New" panose="02070309020205020404" pitchFamily="49" charset="0"/>
              </a:rPr>
              <a:t>parameter </a:t>
            </a:r>
            <a:r>
              <a:rPr lang="en-US" altLang="en-US" b="1" dirty="0">
                <a:latin typeface="Courier New" panose="02070309020205020404" pitchFamily="49" charset="0"/>
                <a:cs typeface="Courier New" panose="02070309020205020404" pitchFamily="49" charset="0"/>
              </a:rPr>
              <a:t>):</a:t>
            </a:r>
          </a:p>
          <a:p>
            <a:pPr lvl="1">
              <a:buFont typeface="Courier New" panose="02070309020205020404" pitchFamily="49" charset="0"/>
              <a:buChar char="o"/>
            </a:pPr>
            <a:r>
              <a:rPr lang="en-US" altLang="en-US" u="sng" dirty="0">
                <a:cs typeface="Courier New" panose="02070309020205020404" pitchFamily="49" charset="0"/>
              </a:rPr>
              <a:t>Scope of a parameter</a:t>
            </a:r>
            <a:r>
              <a:rPr lang="en-US" altLang="en-US" dirty="0">
                <a:cs typeface="Courier New" panose="02070309020205020404" pitchFamily="49" charset="0"/>
              </a:rPr>
              <a:t>: the function in which the parameter is used</a:t>
            </a:r>
          </a:p>
          <a:p>
            <a:pPr lvl="1"/>
            <a:endParaRPr lang="en-US" dirty="0"/>
          </a:p>
        </p:txBody>
      </p:sp>
      <p:sp>
        <p:nvSpPr>
          <p:cNvPr id="4" name="Slide Number Placeholder 3">
            <a:extLst>
              <a:ext uri="{FF2B5EF4-FFF2-40B4-BE49-F238E27FC236}">
                <a16:creationId xmlns:a16="http://schemas.microsoft.com/office/drawing/2014/main" id="{334B9C64-555B-969E-BF0C-91A5728A8511}"/>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357960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4EA51-DED6-EF75-8088-48EDC6057DC0}"/>
              </a:ext>
            </a:extLst>
          </p:cNvPr>
          <p:cNvSpPr>
            <a:spLocks noGrp="1"/>
          </p:cNvSpPr>
          <p:nvPr>
            <p:ph type="title"/>
          </p:nvPr>
        </p:nvSpPr>
        <p:spPr/>
        <p:txBody>
          <a:bodyPr/>
          <a:lstStyle/>
          <a:p>
            <a:r>
              <a:rPr lang="en-US" dirty="0"/>
              <a:t>Passing arguments to functions</a:t>
            </a:r>
          </a:p>
        </p:txBody>
      </p:sp>
      <p:sp>
        <p:nvSpPr>
          <p:cNvPr id="4" name="Slide Number Placeholder 3">
            <a:extLst>
              <a:ext uri="{FF2B5EF4-FFF2-40B4-BE49-F238E27FC236}">
                <a16:creationId xmlns:a16="http://schemas.microsoft.com/office/drawing/2014/main" id="{EC46611F-0A5D-E105-B746-F08E9940D5FC}"/>
              </a:ext>
            </a:extLst>
          </p:cNvPr>
          <p:cNvSpPr>
            <a:spLocks noGrp="1"/>
          </p:cNvSpPr>
          <p:nvPr>
            <p:ph type="sldNum" sz="quarter" idx="12"/>
          </p:nvPr>
        </p:nvSpPr>
        <p:spPr/>
        <p:txBody>
          <a:bodyPr/>
          <a:lstStyle/>
          <a:p>
            <a:fld id="{B5CEABB6-07DC-46E8-9B57-56EC44A396E5}" type="slidenum">
              <a:rPr lang="en-US" smtClean="0"/>
              <a:pPr/>
              <a:t>10</a:t>
            </a:fld>
            <a:endParaRPr lang="en-US" dirty="0"/>
          </a:p>
        </p:txBody>
      </p:sp>
      <p:pic>
        <p:nvPicPr>
          <p:cNvPr id="5" name="Picture 2" descr="The lines read as follows. Line 1. d e f main left parenthesis right parenthesis colon. Line 2, indented once. value equals 5. Line 3, indented once. show underscore double left parenthesis value right parenthesis. Line 10, indented once. d e f show underscore double left parenthesis number right parenthesis colon. Line 11, indented twice. result equals number asterisk 2. Line 12, indented twice. print left parenthesis result right parenthesis. An arrow from value in line 3 points to number in line 10.">
            <a:extLst>
              <a:ext uri="{FF2B5EF4-FFF2-40B4-BE49-F238E27FC236}">
                <a16:creationId xmlns:a16="http://schemas.microsoft.com/office/drawing/2014/main" id="{DA614DBD-D1C6-A9FC-0879-FA011BED45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41" t="8548"/>
          <a:stretch/>
        </p:blipFill>
        <p:spPr bwMode="auto">
          <a:xfrm>
            <a:off x="2246376" y="1820208"/>
            <a:ext cx="6271846" cy="460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1562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9DAD4-42BB-507A-8D6B-BF91297404F5}"/>
              </a:ext>
            </a:extLst>
          </p:cNvPr>
          <p:cNvSpPr>
            <a:spLocks noGrp="1"/>
          </p:cNvSpPr>
          <p:nvPr>
            <p:ph type="title"/>
          </p:nvPr>
        </p:nvSpPr>
        <p:spPr/>
        <p:txBody>
          <a:bodyPr/>
          <a:lstStyle/>
          <a:p>
            <a:r>
              <a:rPr lang="en-US" dirty="0"/>
              <a:t>Passing multiple arguments</a:t>
            </a:r>
          </a:p>
        </p:txBody>
      </p:sp>
      <p:sp>
        <p:nvSpPr>
          <p:cNvPr id="3" name="Text Placeholder 2">
            <a:extLst>
              <a:ext uri="{FF2B5EF4-FFF2-40B4-BE49-F238E27FC236}">
                <a16:creationId xmlns:a16="http://schemas.microsoft.com/office/drawing/2014/main" id="{C13F13EB-CDB9-02D2-13F9-1AC882ADEF05}"/>
              </a:ext>
            </a:extLst>
          </p:cNvPr>
          <p:cNvSpPr>
            <a:spLocks noGrp="1"/>
          </p:cNvSpPr>
          <p:nvPr>
            <p:ph type="body" sz="quarter" idx="13"/>
          </p:nvPr>
        </p:nvSpPr>
        <p:spPr/>
        <p:txBody>
          <a:bodyPr/>
          <a:lstStyle/>
          <a:p>
            <a:r>
              <a:rPr lang="en-US" altLang="en-US" dirty="0"/>
              <a:t>Python allows writing a function that accepts multiple arguments</a:t>
            </a:r>
          </a:p>
          <a:p>
            <a:pPr lvl="1">
              <a:buFont typeface="Courier New" panose="02070309020205020404" pitchFamily="49" charset="0"/>
              <a:buChar char="o"/>
            </a:pPr>
            <a:r>
              <a:rPr lang="en-US" altLang="en-US" dirty="0"/>
              <a:t>Parameter list replaces single parameter</a:t>
            </a:r>
          </a:p>
          <a:p>
            <a:pPr lvl="2">
              <a:buFont typeface="Wingdings" panose="05000000000000000000" pitchFamily="2" charset="2"/>
              <a:buChar char="§"/>
            </a:pPr>
            <a:r>
              <a:rPr lang="en-US" altLang="en-US" dirty="0"/>
              <a:t>Parameter list items separated by comma</a:t>
            </a:r>
          </a:p>
          <a:p>
            <a:r>
              <a:rPr lang="en-US" altLang="en-US" dirty="0"/>
              <a:t>Arguments are passed </a:t>
            </a:r>
            <a:r>
              <a:rPr lang="en-US" altLang="en-US" i="1" dirty="0"/>
              <a:t>by position</a:t>
            </a:r>
            <a:r>
              <a:rPr lang="en-US" altLang="en-US" dirty="0"/>
              <a:t> to corresponding parameters</a:t>
            </a:r>
          </a:p>
          <a:p>
            <a:pPr lvl="1">
              <a:buFont typeface="Courier New" panose="02070309020205020404" pitchFamily="49" charset="0"/>
              <a:buChar char="o"/>
            </a:pPr>
            <a:r>
              <a:rPr lang="en-US" altLang="en-US" dirty="0"/>
              <a:t>First parameter receives value of first argument, second parameter receives value of second argument, etc.</a:t>
            </a:r>
          </a:p>
          <a:p>
            <a:endParaRPr lang="en-US" dirty="0"/>
          </a:p>
        </p:txBody>
      </p:sp>
      <p:sp>
        <p:nvSpPr>
          <p:cNvPr id="4" name="Slide Number Placeholder 3">
            <a:extLst>
              <a:ext uri="{FF2B5EF4-FFF2-40B4-BE49-F238E27FC236}">
                <a16:creationId xmlns:a16="http://schemas.microsoft.com/office/drawing/2014/main" id="{EFE19FCF-2818-CA52-21F9-27624C277A06}"/>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3455551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C122-6DA6-F035-1B77-D08CB4AD2B01}"/>
              </a:ext>
            </a:extLst>
          </p:cNvPr>
          <p:cNvSpPr>
            <a:spLocks noGrp="1"/>
          </p:cNvSpPr>
          <p:nvPr>
            <p:ph type="title"/>
          </p:nvPr>
        </p:nvSpPr>
        <p:spPr/>
        <p:txBody>
          <a:bodyPr/>
          <a:lstStyle/>
          <a:p>
            <a:r>
              <a:rPr lang="en-US" dirty="0"/>
              <a:t>Passing multiple arguments</a:t>
            </a:r>
          </a:p>
        </p:txBody>
      </p:sp>
      <p:sp>
        <p:nvSpPr>
          <p:cNvPr id="4" name="Slide Number Placeholder 3">
            <a:extLst>
              <a:ext uri="{FF2B5EF4-FFF2-40B4-BE49-F238E27FC236}">
                <a16:creationId xmlns:a16="http://schemas.microsoft.com/office/drawing/2014/main" id="{E67D4785-795E-0E08-9DF7-526FCEAFC375}"/>
              </a:ext>
            </a:extLst>
          </p:cNvPr>
          <p:cNvSpPr>
            <a:spLocks noGrp="1"/>
          </p:cNvSpPr>
          <p:nvPr>
            <p:ph type="sldNum" sz="quarter" idx="12"/>
          </p:nvPr>
        </p:nvSpPr>
        <p:spPr/>
        <p:txBody>
          <a:bodyPr/>
          <a:lstStyle/>
          <a:p>
            <a:fld id="{B5CEABB6-07DC-46E8-9B57-56EC44A396E5}" type="slidenum">
              <a:rPr lang="en-US" smtClean="0"/>
              <a:pPr/>
              <a:t>12</a:t>
            </a:fld>
            <a:endParaRPr lang="en-US" dirty="0"/>
          </a:p>
        </p:txBody>
      </p:sp>
      <p:pic>
        <p:nvPicPr>
          <p:cNvPr id="5" name="Picture 2" descr="Two arguments in a computer code.">
            <a:extLst>
              <a:ext uri="{FF2B5EF4-FFF2-40B4-BE49-F238E27FC236}">
                <a16:creationId xmlns:a16="http://schemas.microsoft.com/office/drawing/2014/main" id="{91F428D2-D2BD-9461-0DB8-FB4C664260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82" t="13250"/>
          <a:stretch/>
        </p:blipFill>
        <p:spPr bwMode="auto">
          <a:xfrm>
            <a:off x="2669574" y="1805803"/>
            <a:ext cx="5941028" cy="461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5953167"/>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{58A97538-A167-4033-A90F-B86DBE95CD64}tf16411248_win32</Template>
  <TotalTime>53</TotalTime>
  <Words>547</Words>
  <Application>Microsoft Office PowerPoint</Application>
  <PresentationFormat>Widescreen</PresentationFormat>
  <Paragraphs>92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Custom</vt:lpstr>
      <vt:lpstr>Functions</vt:lpstr>
      <vt:lpstr>Functions</vt:lpstr>
      <vt:lpstr>Divide &amp; conquer</vt:lpstr>
      <vt:lpstr>Benefits of using functions</vt:lpstr>
      <vt:lpstr>Defining a function</vt:lpstr>
      <vt:lpstr>Calling a function</vt:lpstr>
      <vt:lpstr>Local variables</vt:lpstr>
      <vt:lpstr>Void function &amp;  value-Returning functions</vt:lpstr>
      <vt:lpstr>Function parameters &amp; arguments</vt:lpstr>
      <vt:lpstr>Passing arguments to functions</vt:lpstr>
      <vt:lpstr>Passing multiple arguments</vt:lpstr>
      <vt:lpstr>Passing multiple arguments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Joselito Guardado</dc:creator>
  <cp:lastModifiedBy>Joselito Guardado</cp:lastModifiedBy>
  <cp:revision>2</cp:revision>
  <dcterms:created xsi:type="dcterms:W3CDTF">2025-04-16T16:22:35Z</dcterms:created>
  <dcterms:modified xsi:type="dcterms:W3CDTF">2026-05-07T16:58:17Z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