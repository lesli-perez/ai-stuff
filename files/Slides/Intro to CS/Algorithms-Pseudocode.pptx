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60D94B-C41A-148C-D139-D24B7725575F}" v="7" dt="2025-04-21T19:58:22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350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81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278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94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3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056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9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5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90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45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0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64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FA88D0-E295-4CF3-934C-6423EACEB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76C1AD23-272F-9AA0-0F90-A6D51823D8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20247" r="-6" b="-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0" y="732032"/>
            <a:ext cx="6900839" cy="2736390"/>
          </a:xfrm>
        </p:spPr>
        <p:txBody>
          <a:bodyPr anchor="t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Algorithms &amp; Pseudocode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6565" y="4201721"/>
            <a:ext cx="4986084" cy="194981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CSCI 1101 Introduction to Computer Science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4E56A8-93D5-4BE3-AE61-84677331A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492A0C-1773-477B-83B5-C707CB057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721F2-683B-A198-A9C9-045AED371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FA0B2-A483-79C6-4B7A-3C6C3F4A5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Definition:</a:t>
            </a:r>
          </a:p>
          <a:p>
            <a:r>
              <a:rPr lang="en-US">
                <a:ea typeface="+mn-lt"/>
                <a:cs typeface="+mn-lt"/>
              </a:rPr>
              <a:t>A set of finite rules or instructions to be followed in calculations or other problem-solving operations.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09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DBD79-A3C8-E7A5-7E2F-474CF72C5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6160"/>
            <a:ext cx="3964251" cy="2237925"/>
          </a:xfrm>
        </p:spPr>
        <p:txBody>
          <a:bodyPr>
            <a:normAutofit/>
          </a:bodyPr>
          <a:lstStyle/>
          <a:p>
            <a:r>
              <a:rPr lang="en-US"/>
              <a:t>A Simple Algorithm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615127-4E4B-44AE-B157-C50975D41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4933C9-798D-09BA-8AB9-70E256649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408254"/>
            <a:ext cx="3964250" cy="24700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/>
              <a:t>Examples:</a:t>
            </a:r>
          </a:p>
          <a:p>
            <a:r>
              <a:rPr lang="en-US" sz="2000"/>
              <a:t>Cookbook</a:t>
            </a:r>
          </a:p>
          <a:p>
            <a:r>
              <a:rPr lang="en-US" sz="2000"/>
              <a:t>Google Maps</a:t>
            </a:r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75E26AE-65D0-8BD5-5E90-4E984DCEF4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82600" y="659381"/>
            <a:ext cx="3905164" cy="553924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07C7DF-2703-4D3B-B500-8182840C0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587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C31C5-7A0A-2AC1-A85C-9E1F9CBEE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8DBE4-F87A-6A98-88D3-8EF88C5A9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Definition:</a:t>
            </a:r>
          </a:p>
          <a:p>
            <a:r>
              <a:rPr lang="en-US">
                <a:ea typeface="+mn-lt"/>
                <a:cs typeface="+mn-lt"/>
              </a:rPr>
              <a:t>A step-by-step description of an algorithm that does not use any programming language in its representation, but instead it uses the simple English language text.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Pseudocode is the</a:t>
            </a:r>
            <a:r>
              <a:rPr lang="en-US" b="1">
                <a:ea typeface="+mn-lt"/>
                <a:cs typeface="+mn-lt"/>
              </a:rPr>
              <a:t> intermediate state between an idea and its implementation(code)</a:t>
            </a:r>
            <a:r>
              <a:rPr lang="en-US">
                <a:ea typeface="+mn-lt"/>
                <a:cs typeface="+mn-lt"/>
              </a:rPr>
              <a:t> in a high-level language.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A65CA-AD6E-ABF4-28F6-44700073A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1878188"/>
          </a:xfrm>
        </p:spPr>
        <p:txBody>
          <a:bodyPr/>
          <a:lstStyle/>
          <a:p>
            <a:r>
              <a:rPr lang="en-US" sz="4800"/>
              <a:t>Pseudocode for Absolute Value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B948A-1FCD-9585-80BC-974D9EB97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080652"/>
            <a:ext cx="10506991" cy="27989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Absolute Value:</a:t>
            </a:r>
          </a:p>
          <a:p>
            <a:r>
              <a:rPr lang="en-US"/>
              <a:t>Get </a:t>
            </a:r>
            <a:r>
              <a:rPr lang="en-US">
                <a:solidFill>
                  <a:srgbClr val="0070C0"/>
                </a:solidFill>
              </a:rPr>
              <a:t>Number</a:t>
            </a:r>
            <a:endParaRPr lang="en-US"/>
          </a:p>
          <a:p>
            <a:r>
              <a:rPr lang="en-US"/>
              <a:t>If </a:t>
            </a:r>
            <a:r>
              <a:rPr lang="en-US">
                <a:solidFill>
                  <a:srgbClr val="0070C0"/>
                </a:solidFill>
              </a:rPr>
              <a:t>Number </a:t>
            </a:r>
            <a:r>
              <a:rPr lang="en-US"/>
              <a:t>&lt; 0 then</a:t>
            </a:r>
          </a:p>
          <a:p>
            <a:r>
              <a:rPr lang="en-US"/>
              <a:t>        Multiply </a:t>
            </a:r>
            <a:r>
              <a:rPr lang="en-US">
                <a:solidFill>
                  <a:srgbClr val="0070C0"/>
                </a:solidFill>
              </a:rPr>
              <a:t>Number </a:t>
            </a:r>
            <a:r>
              <a:rPr lang="en-US"/>
              <a:t>by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/>
              <a:t>-1</a:t>
            </a:r>
          </a:p>
          <a:p>
            <a:r>
              <a:rPr lang="en-US"/>
              <a:t>Output </a:t>
            </a:r>
            <a:r>
              <a:rPr lang="en-US">
                <a:solidFill>
                  <a:srgbClr val="0070C0"/>
                </a:solidFill>
              </a:rPr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190377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9B7A8-23B2-87F3-41E0-3586B6AAE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1860328"/>
          </a:xfrm>
        </p:spPr>
        <p:txBody>
          <a:bodyPr/>
          <a:lstStyle/>
          <a:p>
            <a:r>
              <a:rPr lang="en-US" sz="4800"/>
              <a:t>Pseudocode for Is Positive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E5755-3DB8-1DA2-CA67-1C01DCE3F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003261"/>
            <a:ext cx="10506991" cy="287633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/>
              <a:t>Is Positive:</a:t>
            </a:r>
          </a:p>
          <a:p>
            <a:r>
              <a:rPr lang="en-US"/>
              <a:t>Get </a:t>
            </a:r>
            <a:r>
              <a:rPr lang="en-US">
                <a:solidFill>
                  <a:srgbClr val="0070C0"/>
                </a:solidFill>
              </a:rPr>
              <a:t>Number</a:t>
            </a:r>
          </a:p>
          <a:p>
            <a:r>
              <a:rPr lang="en-US"/>
              <a:t>If </a:t>
            </a:r>
            <a:r>
              <a:rPr lang="en-US">
                <a:solidFill>
                  <a:srgbClr val="0070C0"/>
                </a:solidFill>
              </a:rPr>
              <a:t>Number </a:t>
            </a:r>
            <a:r>
              <a:rPr lang="en-US"/>
              <a:t>&gt; 0 then</a:t>
            </a:r>
          </a:p>
          <a:p>
            <a:r>
              <a:rPr lang="en-US"/>
              <a:t>        Output </a:t>
            </a:r>
            <a:r>
              <a:rPr lang="en-US">
                <a:solidFill>
                  <a:srgbClr val="C00000"/>
                </a:solidFill>
              </a:rPr>
              <a:t>"It's Positive"</a:t>
            </a:r>
          </a:p>
          <a:p>
            <a:r>
              <a:rPr lang="en-US"/>
              <a:t>Else</a:t>
            </a:r>
          </a:p>
          <a:p>
            <a:r>
              <a:rPr lang="en-US"/>
              <a:t>         Output </a:t>
            </a:r>
            <a:r>
              <a:rPr lang="en-US">
                <a:solidFill>
                  <a:srgbClr val="C00000"/>
                </a:solidFill>
              </a:rPr>
              <a:t>"It's Not Positive"</a:t>
            </a:r>
          </a:p>
        </p:txBody>
      </p:sp>
    </p:spTree>
    <p:extLst>
      <p:ext uri="{BB962C8B-B14F-4D97-AF65-F5344CB8AC3E}">
        <p14:creationId xmlns:p14="http://schemas.microsoft.com/office/powerpoint/2010/main" val="375823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F05F7-B16C-EF99-2FA8-6FFFAB86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1902000"/>
          </a:xfrm>
        </p:spPr>
        <p:txBody>
          <a:bodyPr/>
          <a:lstStyle/>
          <a:p>
            <a:r>
              <a:rPr lang="en-US" sz="4800"/>
              <a:t>Pseudocode Countdown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2B9BB-6B4F-EF7E-B91C-488515551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044933"/>
            <a:ext cx="10506991" cy="28346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Countdown:</a:t>
            </a:r>
          </a:p>
          <a:p>
            <a:r>
              <a:rPr lang="en-US"/>
              <a:t>Set </a:t>
            </a:r>
            <a:r>
              <a:rPr lang="en-US">
                <a:solidFill>
                  <a:srgbClr val="0070C0"/>
                </a:solidFill>
              </a:rPr>
              <a:t>Count </a:t>
            </a:r>
            <a:r>
              <a:rPr lang="en-US"/>
              <a:t>to 3</a:t>
            </a:r>
          </a:p>
          <a:p>
            <a:r>
              <a:rPr lang="en-US"/>
              <a:t>While </a:t>
            </a:r>
            <a:r>
              <a:rPr lang="en-US">
                <a:solidFill>
                  <a:srgbClr val="0070C0"/>
                </a:solidFill>
              </a:rPr>
              <a:t>Count </a:t>
            </a:r>
            <a:r>
              <a:rPr lang="en-US"/>
              <a:t>&gt; 0 do</a:t>
            </a:r>
          </a:p>
          <a:p>
            <a:r>
              <a:rPr lang="en-US"/>
              <a:t>       Output </a:t>
            </a:r>
            <a:r>
              <a:rPr lang="en-US">
                <a:solidFill>
                  <a:srgbClr val="0070C0"/>
                </a:solidFill>
              </a:rPr>
              <a:t>Count</a:t>
            </a:r>
          </a:p>
          <a:p>
            <a:r>
              <a:rPr lang="en-US"/>
              <a:t>        Decrement </a:t>
            </a:r>
            <a:r>
              <a:rPr lang="en-US">
                <a:solidFill>
                  <a:srgbClr val="0070C0"/>
                </a:solidFill>
              </a:rPr>
              <a:t>Count </a:t>
            </a:r>
            <a:r>
              <a:rPr lang="en-US"/>
              <a:t>by 1</a:t>
            </a:r>
          </a:p>
        </p:txBody>
      </p:sp>
    </p:spTree>
    <p:extLst>
      <p:ext uri="{BB962C8B-B14F-4D97-AF65-F5344CB8AC3E}">
        <p14:creationId xmlns:p14="http://schemas.microsoft.com/office/powerpoint/2010/main" val="111568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EC0B-F66B-EC92-4821-E0B59C8FC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Solving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ACD86-9286-6154-60EE-23BDB8730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Ask Questions!</a:t>
            </a:r>
          </a:p>
          <a:p>
            <a:pPr marL="342900" indent="-342900">
              <a:buChar char="•"/>
            </a:pPr>
            <a:r>
              <a:rPr lang="en-US"/>
              <a:t>What do I know about the problem?</a:t>
            </a:r>
          </a:p>
          <a:p>
            <a:pPr marL="342900" indent="-342900">
              <a:buChar char="•"/>
            </a:pPr>
            <a:r>
              <a:rPr lang="en-US"/>
              <a:t>What information do I have to solve the problem?</a:t>
            </a:r>
          </a:p>
          <a:p>
            <a:pPr marL="342900" indent="-342900">
              <a:buChar char="•"/>
            </a:pPr>
            <a:r>
              <a:rPr lang="en-US"/>
              <a:t>What does the solution look like?</a:t>
            </a:r>
          </a:p>
        </p:txBody>
      </p:sp>
    </p:spTree>
    <p:extLst>
      <p:ext uri="{BB962C8B-B14F-4D97-AF65-F5344CB8AC3E}">
        <p14:creationId xmlns:p14="http://schemas.microsoft.com/office/powerpoint/2010/main" val="2543453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46B8-244B-CE04-C7CC-348CCAB7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Solving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3F41-9332-322C-D480-79A534B4C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Reuse Solutions. Don't reinvent the wheel!</a:t>
            </a:r>
          </a:p>
          <a:p>
            <a:pPr marL="342900" indent="-342900">
              <a:buChar char="•"/>
            </a:pPr>
            <a:r>
              <a:rPr lang="en-US"/>
              <a:t>Similar problems come up again and again.</a:t>
            </a:r>
          </a:p>
          <a:p>
            <a:pPr marL="342900" indent="-342900">
              <a:buChar char="•"/>
            </a:pPr>
            <a:r>
              <a:rPr lang="en-US"/>
              <a:t>Recognize tasks that have been solved before and plug in the solution.</a:t>
            </a:r>
          </a:p>
        </p:txBody>
      </p:sp>
    </p:spTree>
    <p:extLst>
      <p:ext uri="{BB962C8B-B14F-4D97-AF65-F5344CB8AC3E}">
        <p14:creationId xmlns:p14="http://schemas.microsoft.com/office/powerpoint/2010/main" val="3768203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F352-E7F1-A7A2-12FA-2317ED276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Solving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EF110-24C5-28D0-36B2-1C21E7D32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Divide and Conquer!</a:t>
            </a:r>
          </a:p>
          <a:p>
            <a:pPr marL="342900" indent="-342900">
              <a:buChar char="•"/>
            </a:pPr>
            <a:r>
              <a:rPr lang="en-US"/>
              <a:t>Break up a large problem down to smaller problems and solve for each smaller problem.</a:t>
            </a:r>
          </a:p>
          <a:p>
            <a:pPr marL="342900" indent="-342900">
              <a:buChar char="•"/>
            </a:pPr>
            <a:r>
              <a:rPr lang="en-US"/>
              <a:t>You can continue to break down a problem over-and-over until each problem is manageable.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874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F64B-EA0E-0546-F736-B1B801047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1532906"/>
          </a:xfrm>
        </p:spPr>
        <p:txBody>
          <a:bodyPr/>
          <a:lstStyle/>
          <a:p>
            <a:r>
              <a:rPr lang="en-US" sz="6000"/>
              <a:t>Polya's Problem Solving Steps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F3855-79A7-9063-E1F2-45058BBC6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729417"/>
            <a:ext cx="10506991" cy="31501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/>
              <a:t>Understand the problem. (Use problem solving strategies)</a:t>
            </a:r>
          </a:p>
          <a:p>
            <a:pPr marL="457200" indent="-457200">
              <a:buAutoNum type="arabicPeriod"/>
            </a:pPr>
            <a:r>
              <a:rPr lang="en-US"/>
              <a:t>Devise a plan for solving the problem. (Pseudocode, use drawings)</a:t>
            </a:r>
          </a:p>
          <a:p>
            <a:pPr marL="457200" indent="-457200">
              <a:buAutoNum type="arabicPeriod"/>
            </a:pPr>
            <a:r>
              <a:rPr lang="en-US"/>
              <a:t>Carry out the plan. (Code)</a:t>
            </a:r>
          </a:p>
          <a:p>
            <a:pPr marL="457200" indent="-457200">
              <a:buAutoNum type="arabicPeriod"/>
            </a:pPr>
            <a:r>
              <a:rPr lang="en-US"/>
              <a:t>Evaluate your solution's accuracy and its potential for solving other problems.</a:t>
            </a:r>
          </a:p>
        </p:txBody>
      </p:sp>
    </p:spTree>
    <p:extLst>
      <p:ext uri="{BB962C8B-B14F-4D97-AF65-F5344CB8AC3E}">
        <p14:creationId xmlns:p14="http://schemas.microsoft.com/office/powerpoint/2010/main" val="1087503913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AnalogousFromLightSeedRightStep">
      <a:dk1>
        <a:srgbClr val="000000"/>
      </a:dk1>
      <a:lt1>
        <a:srgbClr val="FFFFFF"/>
      </a:lt1>
      <a:dk2>
        <a:srgbClr val="412D24"/>
      </a:dk2>
      <a:lt2>
        <a:srgbClr val="E2E6E8"/>
      </a:lt2>
      <a:accent1>
        <a:srgbClr val="BF9989"/>
      </a:accent1>
      <a:accent2>
        <a:srgbClr val="AFA078"/>
      </a:accent2>
      <a:accent3>
        <a:srgbClr val="A1A77E"/>
      </a:accent3>
      <a:accent4>
        <a:srgbClr val="8DAA74"/>
      </a:accent4>
      <a:accent5>
        <a:srgbClr val="83AC81"/>
      </a:accent5>
      <a:accent6>
        <a:srgbClr val="77AE8C"/>
      </a:accent6>
      <a:hlink>
        <a:srgbClr val="5E899C"/>
      </a:hlink>
      <a:folHlink>
        <a:srgbClr val="7F7F7F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LevelVTI</vt:lpstr>
      <vt:lpstr>Algorithms &amp; Pseudocode</vt:lpstr>
      <vt:lpstr>Algorithm</vt:lpstr>
      <vt:lpstr>A Simple Algorithm</vt:lpstr>
      <vt:lpstr>Pseudocode</vt:lpstr>
      <vt:lpstr>Pseudocode for Absolute Value Problem</vt:lpstr>
      <vt:lpstr>Pseudocode for Is Positive Problem</vt:lpstr>
      <vt:lpstr>Pseudocode Countdown Problem</vt:lpstr>
      <vt:lpstr>Problem Solving Strategies</vt:lpstr>
      <vt:lpstr>Problem Solving Strategies</vt:lpstr>
      <vt:lpstr>Problem Solving Strategies</vt:lpstr>
      <vt:lpstr>Polya's Problem Solving Steps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2022-11-01T01:39:42Z</dcterms:created>
  <dcterms:modified xsi:type="dcterms:W3CDTF">2026-05-07T16:58:54Z</dcterms:modified>
</cp:coreProperties>
</file>