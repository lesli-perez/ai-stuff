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B0806-9A0F-6047-BA3F-49581E89CDD6}" v="10" dt="2025-04-14T20:09:14.532"/>
    <p1510:client id="{4F076997-3176-4A39-4EFD-A550ECB134AF}" v="23" dt="2025-04-14T20:23:16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2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7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1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3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7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3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07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0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5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8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821C239-048C-4799-9304-CB5E5EDE73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D1D8E2A-36D9-43A2-A4FF-5C01A575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09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9F26-A309-6D15-A1FE-13C7B0671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E9039-FFA5-FE38-6CB6-FCF94E14C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CSCI 1101 – Introduction to Programming in Python</a:t>
            </a:r>
          </a:p>
        </p:txBody>
      </p:sp>
    </p:spTree>
    <p:extLst>
      <p:ext uri="{BB962C8B-B14F-4D97-AF65-F5344CB8AC3E}">
        <p14:creationId xmlns:p14="http://schemas.microsoft.com/office/powerpoint/2010/main" val="46683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3833-6937-81DB-8D0D-A74B6D18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148B-C9EA-53FD-2E54-8C7CE5FA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Python, Lists allow you to store multiple literal values in a single variable. For example, if you want to store the names of various grocery items you can use a list.</a:t>
            </a:r>
          </a:p>
          <a:p>
            <a:endParaRPr lang="en-US"/>
          </a:p>
          <a:p>
            <a:pPr marL="0" indent="0">
              <a:buNone/>
            </a:pPr>
            <a:r>
              <a:rPr lang="en-US" b="1" err="1"/>
              <a:t>grocery_list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“Eggs”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“Milk”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“Bread” </a:t>
            </a:r>
            <a:r>
              <a:rPr lang="en-US" b="1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7575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B9C7-9EB8-D326-47CC-1507887B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List Elements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C5E0-EBE4-955D-C980-FB1C02730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element in a list is associated with a number known as an </a:t>
            </a:r>
            <a:r>
              <a:rPr lang="en-US" b="1"/>
              <a:t>index</a:t>
            </a:r>
            <a:r>
              <a:rPr lang="en-US"/>
              <a:t>. The index of a list always starts at </a:t>
            </a:r>
            <a:r>
              <a:rPr lang="en-US" b="1"/>
              <a:t>0</a:t>
            </a:r>
            <a:r>
              <a:rPr lang="en-US"/>
              <a:t>.</a:t>
            </a:r>
          </a:p>
          <a:p>
            <a:r>
              <a:rPr lang="en-US"/>
              <a:t>The index is used as a key to access the element associated to it.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languages = [ </a:t>
            </a:r>
            <a:r>
              <a:rPr lang="en-US" b="1">
                <a:solidFill>
                  <a:schemeClr val="accent4"/>
                </a:solidFill>
              </a:rPr>
              <a:t>“Python”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“Swift”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“C++”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/>
              <a:t>print( languages[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0 </a:t>
            </a:r>
            <a:r>
              <a:rPr lang="en-US" b="1"/>
              <a:t>] ) </a:t>
            </a:r>
            <a:r>
              <a:rPr lang="en-US" b="1">
                <a:solidFill>
                  <a:schemeClr val="accent3"/>
                </a:solidFill>
              </a:rPr>
              <a:t># will output “Python”</a:t>
            </a:r>
          </a:p>
          <a:p>
            <a:pPr marL="0" indent="0">
              <a:buNone/>
            </a:pPr>
            <a:endParaRPr lang="en-US" b="1"/>
          </a:p>
        </p:txBody>
      </p:sp>
      <p:pic>
        <p:nvPicPr>
          <p:cNvPr id="5" name="Picture 4" descr="A close-up of a word&#10;&#10;AI-generated content may be incorrect.">
            <a:extLst>
              <a:ext uri="{FF2B5EF4-FFF2-40B4-BE49-F238E27FC236}">
                <a16:creationId xmlns:a16="http://schemas.microsoft.com/office/drawing/2014/main" id="{B47CDB00-2371-BCFD-0C5A-12CB88463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350" y="4109692"/>
            <a:ext cx="4533900" cy="1056378"/>
          </a:xfrm>
          <a:prstGeom prst="rect">
            <a:avLst/>
          </a:prstGeom>
        </p:spPr>
      </p:pic>
      <p:pic>
        <p:nvPicPr>
          <p:cNvPr id="7" name="Picture 6" descr="A close-up of a computer&#10;&#10;AI-generated content may be incorrect.">
            <a:extLst>
              <a:ext uri="{FF2B5EF4-FFF2-40B4-BE49-F238E27FC236}">
                <a16:creationId xmlns:a16="http://schemas.microsoft.com/office/drawing/2014/main" id="{E40FBEC7-C2EC-E1A8-EB46-424707330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5"/>
          <a:stretch/>
        </p:blipFill>
        <p:spPr>
          <a:xfrm>
            <a:off x="6356350" y="5356506"/>
            <a:ext cx="5098189" cy="105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9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24ED-E2B0-A5F0-E26F-6BC86D6A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E502-49F2-CE8C-CD78-0F8B89E61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Ordered: </a:t>
            </a:r>
            <a:r>
              <a:rPr lang="en-US"/>
              <a:t>Elements in a list are ordered by their index.</a:t>
            </a:r>
          </a:p>
          <a:p>
            <a:r>
              <a:rPr lang="en-US" b="1"/>
              <a:t>Changeable: </a:t>
            </a:r>
            <a:r>
              <a:rPr lang="en-US"/>
              <a:t>Elements in a list can be changed or removed.</a:t>
            </a:r>
          </a:p>
          <a:p>
            <a:r>
              <a:rPr lang="en-US" b="1"/>
              <a:t>Heterogeneous: </a:t>
            </a:r>
            <a:r>
              <a:rPr lang="en-US"/>
              <a:t>Elements in a list can be of different types (including List).</a:t>
            </a:r>
          </a:p>
          <a:p>
            <a:r>
              <a:rPr lang="en-US" b="1"/>
              <a:t>Allows Duplicates: </a:t>
            </a:r>
            <a:r>
              <a:rPr lang="en-US"/>
              <a:t>Elements in a list can be duplicates but will have different index.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diagram of numbers and letters&#10;&#10;AI-generated content may be incorrect.">
            <a:extLst>
              <a:ext uri="{FF2B5EF4-FFF2-40B4-BE49-F238E27FC236}">
                <a16:creationId xmlns:a16="http://schemas.microsoft.com/office/drawing/2014/main" id="{B32D07B6-2852-65ED-3280-CFF81087A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32" y="4653505"/>
            <a:ext cx="6034736" cy="181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967B-11B2-14D4-5D12-87FF509E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Splicing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560F-B961-36D7-FBE0-4A6F6AEF6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/>
          <a:lstStyle/>
          <a:p>
            <a:r>
              <a:rPr lang="en-US"/>
              <a:t>To print out the entire list you can simply use the print() method.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“fish”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“hamster”</a:t>
            </a:r>
            <a:r>
              <a:rPr lang="en-US" b="1"/>
              <a:t> 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“bird”, “fish”, “hamster” ]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 print a portion of the list we can use the splicing operator </a:t>
            </a:r>
            <a:r>
              <a:rPr lang="en-US" b="1"/>
              <a:t>:</a:t>
            </a:r>
            <a:r>
              <a:rPr lang="en-US"/>
              <a:t> . Simply indicate the start and ending index.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“fish”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“hamster”</a:t>
            </a:r>
            <a:r>
              <a:rPr lang="en-US" b="1"/>
              <a:t> 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0</a:t>
            </a:r>
            <a:r>
              <a:rPr lang="en-US" b="1"/>
              <a:t> :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2</a:t>
            </a:r>
            <a:r>
              <a:rPr lang="en-US" b="1">
                <a:solidFill>
                  <a:srgbClr val="FFFFFF"/>
                </a:solidFill>
              </a:rPr>
              <a:t> </a:t>
            </a:r>
            <a:r>
              <a:rPr lang="en-US" b="1"/>
              <a:t>] ) </a:t>
            </a:r>
            <a:r>
              <a:rPr lang="en-US" b="1">
                <a:solidFill>
                  <a:schemeClr val="accent3"/>
                </a:solidFill>
              </a:rPr>
              <a:t># will output [ “dog”, “cat” 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2</a:t>
            </a:r>
            <a:r>
              <a:rPr lang="en-US" b="1"/>
              <a:t> :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4</a:t>
            </a:r>
            <a:r>
              <a:rPr lang="en-US" b="1">
                <a:solidFill>
                  <a:srgbClr val="FFFFFF"/>
                </a:solidFill>
              </a:rPr>
              <a:t> </a:t>
            </a:r>
            <a:r>
              <a:rPr lang="en-US" b="1"/>
              <a:t>] ) </a:t>
            </a:r>
            <a:r>
              <a:rPr lang="en-US" b="1">
                <a:solidFill>
                  <a:schemeClr val="accent3"/>
                </a:solidFill>
              </a:rPr>
              <a:t># will output [ “bird”, “fish” ]</a:t>
            </a:r>
          </a:p>
        </p:txBody>
      </p:sp>
    </p:spTree>
    <p:extLst>
      <p:ext uri="{BB962C8B-B14F-4D97-AF65-F5344CB8AC3E}">
        <p14:creationId xmlns:p14="http://schemas.microsoft.com/office/powerpoint/2010/main" val="229848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F4EA-BB83-B6B1-A6F8-D24DB0B8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Elements to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B620-252B-DC30-F736-D7AC348A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3731"/>
            <a:ext cx="10554574" cy="3490546"/>
          </a:xfrm>
        </p:spPr>
        <p:txBody>
          <a:bodyPr/>
          <a:lstStyle/>
          <a:p>
            <a:r>
              <a:rPr lang="en-US"/>
              <a:t>To add new elements to a list you can use the </a:t>
            </a:r>
            <a:r>
              <a:rPr lang="en-US" b="1"/>
              <a:t>append</a:t>
            </a:r>
            <a:r>
              <a:rPr lang="en-US"/>
              <a:t>() method. Appended elements are added to the back of the list.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 ]</a:t>
            </a:r>
          </a:p>
          <a:p>
            <a:pPr marL="0" indent="0">
              <a:buNone/>
            </a:pPr>
            <a:r>
              <a:rPr lang="en-US" b="1" err="1"/>
              <a:t>my_list.append</a:t>
            </a:r>
            <a:r>
              <a:rPr lang="en-US" b="1"/>
              <a:t>(</a:t>
            </a:r>
            <a:r>
              <a:rPr lang="en-US" b="1">
                <a:solidFill>
                  <a:schemeClr val="accent4"/>
                </a:solidFill>
              </a:rPr>
              <a:t>“bird”</a:t>
            </a:r>
            <a:r>
              <a:rPr lang="en-US" b="1"/>
              <a:t> )</a:t>
            </a:r>
            <a:endParaRPr lang="en-US" b="1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“bird” ]</a:t>
            </a:r>
          </a:p>
          <a:p>
            <a:pPr marL="0" indent="0">
              <a:buNone/>
            </a:pPr>
            <a:endParaRPr lang="en-US" b="1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5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4A97-2DDA-6718-D541-733D94E4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Elements to Specific Index in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75B53-87CB-8965-8CB8-7C920A5A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655277"/>
            <a:ext cx="10554574" cy="3411415"/>
          </a:xfrm>
        </p:spPr>
        <p:txBody>
          <a:bodyPr/>
          <a:lstStyle/>
          <a:p>
            <a:r>
              <a:rPr lang="en-US"/>
              <a:t>To add new elements to a list but into a specific index, you can use the </a:t>
            </a:r>
            <a:r>
              <a:rPr lang="en-US" b="1"/>
              <a:t>insert</a:t>
            </a:r>
            <a:r>
              <a:rPr lang="en-US"/>
              <a:t>() method. Inserted elements are added to the specified index and all other elements are pushed back.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“bird” ]</a:t>
            </a:r>
          </a:p>
          <a:p>
            <a:pPr marL="0" indent="0">
              <a:buNone/>
            </a:pPr>
            <a:r>
              <a:rPr lang="en-US" b="1" err="1"/>
              <a:t>my_list.insert</a:t>
            </a:r>
            <a:r>
              <a:rPr lang="en-US" b="1"/>
              <a:t>(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2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“hamster”</a:t>
            </a:r>
            <a:r>
              <a:rPr lang="en-US" b="1"/>
              <a:t> )</a:t>
            </a:r>
            <a:endParaRPr lang="en-US" b="1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“hamster”, “bird” ]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F53B-18E6-DEBF-AEC1-986E1B59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Changing List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0D607-52EF-C11F-E6C7-0E9899AC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05807"/>
            <a:ext cx="10554574" cy="3578469"/>
          </a:xfrm>
        </p:spPr>
        <p:txBody>
          <a:bodyPr/>
          <a:lstStyle/>
          <a:p>
            <a:r>
              <a:rPr lang="en-US"/>
              <a:t>To update an element in a list you can simply use the </a:t>
            </a:r>
            <a:r>
              <a:rPr lang="en-US" b="1"/>
              <a:t>[ ]</a:t>
            </a:r>
            <a:r>
              <a:rPr lang="en-US"/>
              <a:t> access operator to specify the index of the element and then use the </a:t>
            </a:r>
            <a:r>
              <a:rPr lang="en-US" b="1"/>
              <a:t>=</a:t>
            </a:r>
            <a:r>
              <a:rPr lang="en-US"/>
              <a:t> assignment operator to update the element.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“bird” ]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1</a:t>
            </a:r>
            <a:r>
              <a:rPr lang="en-US" b="1"/>
              <a:t> ] = </a:t>
            </a:r>
            <a:r>
              <a:rPr lang="en-US" b="1">
                <a:solidFill>
                  <a:schemeClr val="accent4"/>
                </a:solidFill>
              </a:rPr>
              <a:t>“lizard”</a:t>
            </a:r>
            <a:endParaRPr lang="en-US" b="1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“lizard”, “bird” ]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4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D690-0472-760D-217F-61BE793A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List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CD03-6981-E229-8E04-D89B4FBF3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96" y="2408145"/>
            <a:ext cx="10554574" cy="4449855"/>
          </a:xfrm>
        </p:spPr>
        <p:txBody>
          <a:bodyPr/>
          <a:lstStyle/>
          <a:p>
            <a:r>
              <a:rPr lang="en-US"/>
              <a:t>To remove elements from a list you can use the </a:t>
            </a:r>
            <a:r>
              <a:rPr lang="en-US" b="1"/>
              <a:t>del</a:t>
            </a:r>
            <a:r>
              <a:rPr lang="en-US"/>
              <a:t> statement. The del statement can be used to remove a single element, multiple element, or the entire list.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“fish”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“hamster”</a:t>
            </a:r>
            <a:r>
              <a:rPr lang="en-US" b="1"/>
              <a:t> 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“cat”, “bird”, “fish”, “hamster” ]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del</a:t>
            </a:r>
            <a:r>
              <a:rPr lang="en-US" b="1"/>
              <a:t> </a:t>
            </a:r>
            <a:r>
              <a:rPr lang="en-US" b="1" err="1"/>
              <a:t>my_list</a:t>
            </a:r>
            <a:r>
              <a:rPr lang="en-US" b="1"/>
              <a:t>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1</a:t>
            </a:r>
            <a:r>
              <a:rPr lang="en-US" b="1"/>
              <a:t> ] 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“dog”, “bird”, “fish”, “hamster” ]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del</a:t>
            </a:r>
            <a:r>
              <a:rPr lang="en-US" b="1"/>
              <a:t> </a:t>
            </a:r>
            <a:r>
              <a:rPr lang="en-US" b="1" err="1"/>
              <a:t>my_list</a:t>
            </a:r>
            <a:r>
              <a:rPr lang="en-US" b="1"/>
              <a:t>[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1</a:t>
            </a:r>
            <a:r>
              <a:rPr lang="en-US" b="1"/>
              <a:t> :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</a:rPr>
              <a:t>3</a:t>
            </a:r>
            <a:r>
              <a:rPr lang="en-US" b="1"/>
              <a:t> ] 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[ “dog” , “hamster” ]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del</a:t>
            </a:r>
            <a:r>
              <a:rPr lang="en-US" b="1"/>
              <a:t> </a:t>
            </a:r>
            <a:r>
              <a:rPr lang="en-US" b="1" err="1"/>
              <a:t>my_list</a:t>
            </a:r>
            <a:endParaRPr lang="en-US" b="1"/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/>
              <a:t>my_list</a:t>
            </a:r>
            <a:r>
              <a:rPr lang="en-US" b="1"/>
              <a:t> ) </a:t>
            </a:r>
            <a:r>
              <a:rPr lang="en-US" b="1">
                <a:solidFill>
                  <a:schemeClr val="accent3"/>
                </a:solidFill>
              </a:rPr>
              <a:t># will output Error, list no longer exists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6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F913-E774-FDFA-0568-E2B9DCA5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the List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B6119-9FF0-699F-5005-8875D2AC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get the length of a list or the number of elements in a list, you can use the </a:t>
            </a:r>
            <a:r>
              <a:rPr lang="en-US" b="1" err="1"/>
              <a:t>len</a:t>
            </a:r>
            <a:r>
              <a:rPr lang="en-US"/>
              <a:t>() function.</a:t>
            </a:r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/>
              <a:t>print( </a:t>
            </a:r>
            <a:r>
              <a:rPr lang="en-US" b="1" err="1">
                <a:solidFill>
                  <a:schemeClr val="accent1"/>
                </a:solidFill>
              </a:rPr>
              <a:t>len</a:t>
            </a:r>
            <a:r>
              <a:rPr lang="en-US" b="1"/>
              <a:t>( </a:t>
            </a:r>
            <a:r>
              <a:rPr lang="en-US" b="1" err="1"/>
              <a:t>my_list</a:t>
            </a:r>
            <a:r>
              <a:rPr lang="en-US" b="1"/>
              <a:t> ) ) </a:t>
            </a:r>
            <a:r>
              <a:rPr lang="en-US" b="1">
                <a:solidFill>
                  <a:schemeClr val="accent3"/>
                </a:solidFill>
              </a:rPr>
              <a:t># will output 3</a:t>
            </a:r>
          </a:p>
        </p:txBody>
      </p:sp>
    </p:spTree>
    <p:extLst>
      <p:ext uri="{BB962C8B-B14F-4D97-AF65-F5344CB8AC3E}">
        <p14:creationId xmlns:p14="http://schemas.microsoft.com/office/powerpoint/2010/main" val="9460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9E17-DB30-012F-AF20-398B7DEB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Iterating Through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2534E-1AC9-1254-E4BF-4BDA0608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print the entire list, you can simply use the print() function. However, if you wish to iterate through a list to either print the elements individually or access each element individually, you can use a </a:t>
            </a:r>
            <a:r>
              <a:rPr lang="en-US" b="1"/>
              <a:t>for</a:t>
            </a:r>
            <a:r>
              <a:rPr lang="en-US"/>
              <a:t> loop.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 err="1"/>
              <a:t>my_list</a:t>
            </a:r>
            <a:r>
              <a:rPr lang="en-US" b="1"/>
              <a:t> = [ </a:t>
            </a:r>
            <a:r>
              <a:rPr lang="en-US" b="1">
                <a:solidFill>
                  <a:schemeClr val="accent4"/>
                </a:solidFill>
              </a:rPr>
              <a:t>“dog”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“cat”</a:t>
            </a:r>
            <a:r>
              <a:rPr lang="en-US" b="1"/>
              <a:t>, </a:t>
            </a:r>
            <a:r>
              <a:rPr lang="en-US" b="1">
                <a:solidFill>
                  <a:schemeClr val="accent4"/>
                </a:solidFill>
              </a:rPr>
              <a:t>“bird” </a:t>
            </a:r>
            <a:r>
              <a:rPr lang="en-US" b="1"/>
              <a:t>]</a:t>
            </a: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for</a:t>
            </a:r>
            <a:r>
              <a:rPr lang="en-US" b="1"/>
              <a:t> item </a:t>
            </a:r>
            <a:r>
              <a:rPr lang="en-US" b="1">
                <a:solidFill>
                  <a:schemeClr val="accent1"/>
                </a:solidFill>
              </a:rPr>
              <a:t>in</a:t>
            </a:r>
            <a:r>
              <a:rPr lang="en-US" b="1"/>
              <a:t> </a:t>
            </a:r>
            <a:r>
              <a:rPr lang="en-US" b="1" err="1"/>
              <a:t>my_list</a:t>
            </a:r>
            <a:r>
              <a:rPr lang="en-US" b="1"/>
              <a:t> :</a:t>
            </a:r>
          </a:p>
          <a:p>
            <a:pPr marL="0" indent="0">
              <a:buNone/>
            </a:pPr>
            <a:r>
              <a:rPr lang="en-US" b="1"/>
              <a:t>	print( item )</a:t>
            </a:r>
          </a:p>
        </p:txBody>
      </p:sp>
    </p:spTree>
    <p:extLst>
      <p:ext uri="{BB962C8B-B14F-4D97-AF65-F5344CB8AC3E}">
        <p14:creationId xmlns:p14="http://schemas.microsoft.com/office/powerpoint/2010/main" val="88263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99A6-A750-9BDA-F940-05F1A946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24095"/>
            <a:ext cx="10571998" cy="730981"/>
          </a:xfrm>
        </p:spPr>
        <p:txBody>
          <a:bodyPr/>
          <a:lstStyle/>
          <a:p>
            <a:r>
              <a:rPr lang="en-US"/>
              <a:t>Python List Methods</a:t>
            </a:r>
          </a:p>
        </p:txBody>
      </p:sp>
      <p:pic>
        <p:nvPicPr>
          <p:cNvPr id="5" name="Content Placeholder 4" descr="A screenshot of a list&#10;&#10;AI-generated content may be incorrect.">
            <a:extLst>
              <a:ext uri="{FF2B5EF4-FFF2-40B4-BE49-F238E27FC236}">
                <a16:creationId xmlns:a16="http://schemas.microsoft.com/office/drawing/2014/main" id="{078EAAC2-0AB1-485D-81B8-974679070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488" y="1147685"/>
            <a:ext cx="6870649" cy="5575364"/>
          </a:xfrm>
        </p:spPr>
      </p:pic>
    </p:spTree>
    <p:extLst>
      <p:ext uri="{BB962C8B-B14F-4D97-AF65-F5344CB8AC3E}">
        <p14:creationId xmlns:p14="http://schemas.microsoft.com/office/powerpoint/2010/main" val="1721224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Quotable</vt:lpstr>
      <vt:lpstr>Lists</vt:lpstr>
      <vt:lpstr>Lists</vt:lpstr>
      <vt:lpstr>Accessing List Elements </vt:lpstr>
      <vt:lpstr>List Characteristics</vt:lpstr>
      <vt:lpstr>List Splicing</vt:lpstr>
      <vt:lpstr>Adding Elements to List</vt:lpstr>
      <vt:lpstr>Adding Elements to Specific Index in List</vt:lpstr>
      <vt:lpstr>Changing List Elements</vt:lpstr>
      <vt:lpstr>Removing List Elements</vt:lpstr>
      <vt:lpstr>Getting the List Length</vt:lpstr>
      <vt:lpstr>Iterating Through a List</vt:lpstr>
      <vt:lpstr>Python List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Joselito Guardado</dc:creator>
  <cp:revision>2</cp:revision>
  <dcterms:created xsi:type="dcterms:W3CDTF">2025-03-24T06:54:35Z</dcterms:created>
  <dcterms:modified xsi:type="dcterms:W3CDTF">2026-05-07T16:57:35Z</dcterms:modified>
</cp:coreProperties>
</file>